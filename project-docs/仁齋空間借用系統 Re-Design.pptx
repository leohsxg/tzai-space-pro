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Agenda Page Tips
Break down the main points or sections that will be covered in the presentation.
Ensure the agenda is clear and logical to help guide your audience through the presentation.
Help the audience understand what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Old User Experience Page Tips
Provide screenshots or descriptions of the previous user interface and experience.
Highlight key pain points or areas of dissatisfaction.
Use this page to set the stage for why the redesign was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Overview Page Tips
You might want to start with an attention grabber.
But majorly, this is where you give a brief sentence and overview on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Overview Page Tips
You might want to start with an attention grabber.
But majorly, this is where you give a brief sentence and overview on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Pain Points
Here’s where you give some background on your project. 
Some helpful questions to ask through: 
Use data and numbers to support the problem statement
Visualize the statistics to make it easy to understand
Why is this problem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Solution Inspection Page Tips
Provide a detailed look at the final solution.
Include screenshots of the new design.
Explain key design features, decisions and how they address the identified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Solution Inspection Page Tips
Provide a detailed look at the final solution.
Include screenshots of the new design.
Explain key design features, decisions and how they address the identified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Solution Inspection Page Tips
Provide a detailed look at the final solution.
Include screenshots of the new design.
Explain key design features, decisions and how they address the identified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Product Screens Display Page Tips
Showcase a series of screens from the redesigned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Overview Page Tips
You might want to start with an attention grabber.
But majorly, this is where you give a brief sentence and overview on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Quote Page Tips
Include a relevant quote that supports or underscores the presentation’s message.
The quote could be from a user, a stakeholder, or an industry expert.
Ensure the quote is concise and impactful.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presenting, clear the tips below to add your presentation notes, speech and other important points to remember here*
Thank You Page Tips
Conclude with a thank you message to the audience.
Provide your contact information for any follow-up questions.
Include a call-to-action, such as scheduling a meeting or visiting a website for more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F"/>
        </a:solidFill>
      </p:bgPr>
    </p:bg>
    <p:spTree>
      <p:nvGrpSpPr>
        <p:cNvPr id="1" name=""/>
        <p:cNvGrpSpPr/>
        <p:nvPr/>
      </p:nvGrpSpPr>
      <p:grpSpPr>
        <a:xfrm>
          <a:off x="0" y="0"/>
          <a:ext cx="0" cy="0"/>
          <a:chOff x="0" y="0"/>
          <a:chExt cx="0" cy="0"/>
        </a:xfrm>
      </p:grpSpPr>
      <p:sp>
        <p:nvSpPr>
          <p:cNvPr id="2" name="Shape 0"/>
          <p:cNvSpPr/>
          <p:nvPr/>
        </p:nvSpPr>
        <p:spPr>
          <a:xfrm>
            <a:off x="800100" y="1562100"/>
            <a:ext cx="5143500" cy="1466850"/>
          </a:xfrm>
          <a:prstGeom prst="rect">
            <a:avLst/>
          </a:prstGeom>
          <a:noFill/>
          <a:ln/>
        </p:spPr>
      </p:sp>
      <p:sp>
        <p:nvSpPr>
          <p:cNvPr id="3" name="Shape 1"/>
          <p:cNvSpPr/>
          <p:nvPr/>
        </p:nvSpPr>
        <p:spPr>
          <a:xfrm>
            <a:off x="800100" y="3705225"/>
            <a:ext cx="1552575" cy="704850"/>
          </a:xfrm>
          <a:prstGeom prst="rect">
            <a:avLst/>
          </a:prstGeom>
          <a:noFill/>
          <a:ln/>
        </p:spPr>
      </p:sp>
      <p:sp>
        <p:nvSpPr>
          <p:cNvPr id="4" name="Shape 2"/>
          <p:cNvSpPr/>
          <p:nvPr/>
        </p:nvSpPr>
        <p:spPr>
          <a:xfrm>
            <a:off x="7786688" y="423863"/>
            <a:ext cx="901455" cy="233362"/>
          </a:xfrm>
          <a:prstGeom prst="rect">
            <a:avLst/>
          </a:prstGeom>
          <a:noFill/>
          <a:ln/>
        </p:spPr>
      </p:sp>
      <p:sp>
        <p:nvSpPr>
          <p:cNvPr id="5" name="Shape 3"/>
          <p:cNvSpPr/>
          <p:nvPr/>
        </p:nvSpPr>
        <p:spPr>
          <a:xfrm>
            <a:off x="7539037" y="3402816"/>
            <a:ext cx="1619064" cy="1745446"/>
          </a:xfrm>
          <a:prstGeom prst="rect">
            <a:avLst/>
          </a:prstGeom>
          <a:noFill/>
          <a:ln/>
        </p:spPr>
      </p:sp>
      <p:sp>
        <p:nvSpPr>
          <p:cNvPr id="6" name="Shape 4"/>
          <p:cNvSpPr/>
          <p:nvPr/>
        </p:nvSpPr>
        <p:spPr>
          <a:xfrm>
            <a:off x="7549285" y="3416479"/>
            <a:ext cx="2705271" cy="2705271"/>
          </a:xfrm>
          <a:prstGeom prst="ellipse">
            <a:avLst/>
          </a:prstGeom>
          <a:solidFill>
            <a:srgbClr val="E26E1F"/>
          </a:solidFill>
          <a:ln/>
        </p:spPr>
      </p:sp>
      <p:sp>
        <p:nvSpPr>
          <p:cNvPr id="7" name="Shape 5"/>
          <p:cNvSpPr/>
          <p:nvPr/>
        </p:nvSpPr>
        <p:spPr>
          <a:xfrm rot="-2700000">
            <a:off x="8194484" y="4032059"/>
            <a:ext cx="1601090" cy="1601090"/>
          </a:xfrm>
          <a:prstGeom prst="roundRect">
            <a:avLst/>
          </a:prstGeom>
          <a:solidFill>
            <a:srgbClr val="2569ED"/>
          </a:solidFill>
          <a:ln/>
        </p:spPr>
      </p:sp>
      <p:sp>
        <p:nvSpPr>
          <p:cNvPr id="8" name="Shape 6"/>
          <p:cNvSpPr/>
          <p:nvPr/>
        </p:nvSpPr>
        <p:spPr>
          <a:xfrm rot="-2700000">
            <a:off x="7701385" y="3505622"/>
            <a:ext cx="2393560" cy="2393560"/>
          </a:xfrm>
          <a:prstGeom prst="triangle">
            <a:avLst/>
          </a:prstGeom>
          <a:solidFill>
            <a:srgbClr val="EDB842"/>
          </a:solidFill>
          <a:ln/>
        </p:spPr>
      </p:sp>
      <p:sp>
        <p:nvSpPr>
          <p:cNvPr id="9" name="Shape 7"/>
          <p:cNvSpPr/>
          <p:nvPr/>
        </p:nvSpPr>
        <p:spPr>
          <a:xfrm rot="-2408411">
            <a:off x="8722385" y="4617616"/>
            <a:ext cx="327912" cy="348406"/>
          </a:xfrm>
          <a:prstGeom prst="triangle">
            <a:avLst/>
          </a:prstGeom>
          <a:solidFill>
            <a:srgbClr val="E26E1F"/>
          </a:solidFill>
          <a:ln/>
        </p:spPr>
      </p:sp>
      <p:sp>
        <p:nvSpPr>
          <p:cNvPr id="10" name="Shape 8"/>
          <p:cNvSpPr/>
          <p:nvPr/>
        </p:nvSpPr>
        <p:spPr>
          <a:xfrm>
            <a:off x="7786688" y="444808"/>
            <a:ext cx="167566" cy="167566"/>
          </a:xfrm>
          <a:prstGeom prst="ellipse">
            <a:avLst/>
          </a:prstGeom>
          <a:solidFill>
            <a:srgbClr val="E26E1F"/>
          </a:solidFill>
          <a:ln/>
        </p:spPr>
      </p:sp>
      <p:sp>
        <p:nvSpPr>
          <p:cNvPr id="11" name="Shape 9"/>
          <p:cNvSpPr/>
          <p:nvPr/>
        </p:nvSpPr>
        <p:spPr>
          <a:xfrm>
            <a:off x="7954254" y="423863"/>
            <a:ext cx="233362" cy="233362"/>
          </a:xfrm>
          <a:prstGeom prst="triangle">
            <a:avLst/>
          </a:prstGeom>
          <a:solidFill>
            <a:srgbClr val="2569ED"/>
          </a:solidFill>
          <a:ln/>
        </p:spPr>
      </p:sp>
      <p:sp>
        <p:nvSpPr>
          <p:cNvPr id="12" name="Shape 10"/>
          <p:cNvSpPr/>
          <p:nvPr/>
        </p:nvSpPr>
        <p:spPr>
          <a:xfrm>
            <a:off x="8191640" y="447027"/>
            <a:ext cx="153603" cy="153603"/>
          </a:xfrm>
          <a:prstGeom prst="roundRect">
            <a:avLst/>
          </a:prstGeom>
          <a:solidFill>
            <a:srgbClr val="EDB842"/>
          </a:solidFill>
          <a:ln/>
        </p:spPr>
      </p:sp>
      <p:sp>
        <p:nvSpPr>
          <p:cNvPr id="13" name="Text 11"/>
          <p:cNvSpPr/>
          <p:nvPr/>
        </p:nvSpPr>
        <p:spPr>
          <a:xfrm>
            <a:off x="8426204" y="454819"/>
            <a:ext cx="719137"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Logo</a:t>
            </a:r>
            <a:endParaRPr lang="en-US" sz="900" dirty="0"/>
          </a:p>
        </p:txBody>
      </p:sp>
      <p:sp>
        <p:nvSpPr>
          <p:cNvPr id="14" name="Text 12"/>
          <p:cNvSpPr/>
          <p:nvPr/>
        </p:nvSpPr>
        <p:spPr>
          <a:xfrm>
            <a:off x="800100" y="3705225"/>
            <a:ext cx="1138237" cy="285750"/>
          </a:xfrm>
          <a:prstGeom prst="rect">
            <a:avLst/>
          </a:prstGeom>
          <a:noFill/>
          <a:ln/>
        </p:spPr>
        <p:txBody>
          <a:bodyPr wrap="square" rtlCol="0" anchor="ctr"/>
          <a:lstStyle/>
          <a:p>
            <a:pPr algn="l" indent="0" marL="0">
              <a:lnSpc>
                <a:spcPts val="2250"/>
              </a:lnSpc>
              <a:buNone/>
            </a:pPr>
            <a:r>
              <a:rPr lang="en-US" sz="1800" b="1" spc="-27" kern="0" dirty="0">
                <a:solidFill>
                  <a:srgbClr val="000614">
                    <a:alpha val="99000"/>
                  </a:srgbClr>
                </a:solidFill>
                <a:latin typeface="Manrope" pitchFamily="34" charset="0"/>
                <a:ea typeface="Manrope" pitchFamily="34" charset="-122"/>
                <a:cs typeface="Manrope" pitchFamily="34" charset="-120"/>
              </a:rPr>
              <a:t>陳冠宇</a:t>
            </a:r>
            <a:endParaRPr lang="en-US" sz="1800" dirty="0"/>
          </a:p>
        </p:txBody>
      </p:sp>
      <p:sp>
        <p:nvSpPr>
          <p:cNvPr id="15" name="Text 13"/>
          <p:cNvSpPr/>
          <p:nvPr/>
        </p:nvSpPr>
        <p:spPr>
          <a:xfrm>
            <a:off x="800100" y="4067175"/>
            <a:ext cx="2009775" cy="34290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2024/2025 </a:t>
            </a:r>
            <a:endParaRPr lang="en-US" sz="900" dirty="0"/>
          </a:p>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Product Designer &amp; Developer</a:t>
            </a:r>
            <a:endParaRPr lang="en-US" sz="900" dirty="0"/>
          </a:p>
        </p:txBody>
      </p:sp>
      <p:sp>
        <p:nvSpPr>
          <p:cNvPr id="16" name="Text 14"/>
          <p:cNvSpPr/>
          <p:nvPr/>
        </p:nvSpPr>
        <p:spPr>
          <a:xfrm>
            <a:off x="800100" y="1562100"/>
            <a:ext cx="5600700" cy="257175"/>
          </a:xfrm>
          <a:prstGeom prst="rect">
            <a:avLst/>
          </a:prstGeom>
          <a:noFill/>
          <a:ln/>
        </p:spPr>
        <p:txBody>
          <a:bodyPr wrap="square" rtlCol="0" anchor="ctr"/>
          <a:lstStyle/>
          <a:p>
            <a:pPr algn="l" indent="0" marL="0">
              <a:lnSpc>
                <a:spcPts val="2025"/>
              </a:lnSpc>
              <a:buNone/>
            </a:pPr>
            <a:r>
              <a:rPr lang="en-US" sz="1350" spc="-20" kern="0" dirty="0">
                <a:solidFill>
                  <a:srgbClr val="E26E1F">
                    <a:alpha val="99000"/>
                  </a:srgbClr>
                </a:solidFill>
                <a:latin typeface="Manrope" pitchFamily="34" charset="0"/>
                <a:ea typeface="Manrope" pitchFamily="34" charset="-122"/>
                <a:cs typeface="Manrope" pitchFamily="34" charset="-120"/>
              </a:rPr>
              <a:t>tzai-space.web.app</a:t>
            </a:r>
            <a:endParaRPr lang="en-US" sz="1350" dirty="0"/>
          </a:p>
        </p:txBody>
      </p:sp>
      <p:sp>
        <p:nvSpPr>
          <p:cNvPr id="17" name="Text 15"/>
          <p:cNvSpPr/>
          <p:nvPr/>
        </p:nvSpPr>
        <p:spPr>
          <a:xfrm>
            <a:off x="800100" y="1933575"/>
            <a:ext cx="5600700" cy="1095375"/>
          </a:xfrm>
          <a:prstGeom prst="rect">
            <a:avLst/>
          </a:prstGeom>
          <a:noFill/>
          <a:ln/>
        </p:spPr>
        <p:txBody>
          <a:bodyPr wrap="square" rtlCol="0" anchor="ctr"/>
          <a:lstStyle/>
          <a:p>
            <a:pPr algn="l" indent="0" marL="0">
              <a:lnSpc>
                <a:spcPts val="4320"/>
              </a:lnSpc>
              <a:buNone/>
            </a:pPr>
            <a:r>
              <a:rPr lang="en-US" sz="3600" b="1" spc="-72" kern="0" dirty="0">
                <a:solidFill>
                  <a:srgbClr val="000614">
                    <a:alpha val="99000"/>
                  </a:srgbClr>
                </a:solidFill>
                <a:latin typeface="Manrope" pitchFamily="34" charset="0"/>
                <a:ea typeface="Manrope" pitchFamily="34" charset="-122"/>
                <a:cs typeface="Manrope" pitchFamily="34" charset="-120"/>
              </a:rPr>
              <a:t>仁齋空間借用系統</a:t>
            </a:r>
            <a:endParaRPr lang="en-US" sz="3600" dirty="0"/>
          </a:p>
          <a:p>
            <a:pPr algn="l" indent="0" marL="0">
              <a:lnSpc>
                <a:spcPts val="4320"/>
              </a:lnSpc>
              <a:buNone/>
            </a:pPr>
            <a:r>
              <a:rPr lang="en-US" sz="3600" b="1" spc="-72" kern="0" dirty="0">
                <a:solidFill>
                  <a:srgbClr val="000614">
                    <a:alpha val="99000"/>
                  </a:srgbClr>
                </a:solidFill>
                <a:latin typeface="Manrope" pitchFamily="34" charset="0"/>
                <a:ea typeface="Manrope" pitchFamily="34" charset="-122"/>
                <a:cs typeface="Manrope" pitchFamily="34" charset="-120"/>
              </a:rPr>
              <a:t>Re-Design</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800100" y="1047750"/>
            <a:ext cx="5524500" cy="2457450"/>
          </a:xfrm>
          <a:prstGeom prst="rect">
            <a:avLst/>
          </a:prstGeom>
          <a:no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90" y="4848225"/>
            <a:ext cx="206935" cy="206935"/>
          </a:xfrm>
          <a:prstGeom prst="triangle">
            <a:avLst/>
          </a:prstGeom>
          <a:solidFill>
            <a:srgbClr val="FAFBFF"/>
          </a:solidFill>
          <a:ln/>
        </p:spPr>
      </p:sp>
      <p:sp>
        <p:nvSpPr>
          <p:cNvPr id="7" name="Shape 4"/>
          <p:cNvSpPr/>
          <p:nvPr/>
        </p:nvSpPr>
        <p:spPr>
          <a:xfrm>
            <a:off x="663892" y="4872990"/>
            <a:ext cx="136208" cy="136208"/>
          </a:xfrm>
          <a:prstGeom prst="roundRect">
            <a:avLst/>
          </a:prstGeom>
          <a:solidFill>
            <a:srgbClr val="FAFBFF"/>
          </a:solidFill>
          <a:ln/>
        </p:spPr>
      </p:sp>
      <p:sp>
        <p:nvSpPr>
          <p:cNvPr id="8" name="Shape 5"/>
          <p:cNvSpPr/>
          <p:nvPr/>
        </p:nvSpPr>
        <p:spPr>
          <a:xfrm>
            <a:off x="800100" y="1047750"/>
            <a:ext cx="5524500" cy="481012"/>
          </a:xfrm>
          <a:prstGeom prst="rect">
            <a:avLst/>
          </a:prstGeom>
          <a:noFill/>
          <a:ln/>
        </p:spPr>
      </p:sp>
      <p:sp>
        <p:nvSpPr>
          <p:cNvPr id="9" name="Shape 6"/>
          <p:cNvSpPr/>
          <p:nvPr/>
        </p:nvSpPr>
        <p:spPr>
          <a:xfrm>
            <a:off x="800100" y="1681163"/>
            <a:ext cx="5524500" cy="481012"/>
          </a:xfrm>
          <a:prstGeom prst="rect">
            <a:avLst/>
          </a:prstGeom>
          <a:noFill/>
          <a:ln/>
        </p:spPr>
      </p:sp>
      <p:sp>
        <p:nvSpPr>
          <p:cNvPr id="10" name="Shape 7"/>
          <p:cNvSpPr/>
          <p:nvPr/>
        </p:nvSpPr>
        <p:spPr>
          <a:xfrm>
            <a:off x="800100" y="2314575"/>
            <a:ext cx="5524500" cy="481012"/>
          </a:xfrm>
          <a:prstGeom prst="rect">
            <a:avLst/>
          </a:prstGeom>
          <a:noFill/>
          <a:ln/>
        </p:spPr>
      </p:sp>
      <p:sp>
        <p:nvSpPr>
          <p:cNvPr id="11" name="Shape 8"/>
          <p:cNvSpPr/>
          <p:nvPr/>
        </p:nvSpPr>
        <p:spPr>
          <a:xfrm>
            <a:off x="800100" y="2947988"/>
            <a:ext cx="5524500" cy="481012"/>
          </a:xfrm>
          <a:prstGeom prst="rect">
            <a:avLst/>
          </a:prstGeom>
          <a:noFill/>
          <a:ln/>
        </p:spPr>
      </p:sp>
      <p:pic>
        <p:nvPicPr>
          <p:cNvPr id="12" name="Image 0" descr="preencoded.png">    </p:cNvPr>
          <p:cNvPicPr>
            <a:picLocks noChangeAspect="1"/>
          </p:cNvPicPr>
          <p:nvPr/>
        </p:nvPicPr>
        <p:blipFill>
          <a:blip r:embed="rId1"/>
          <a:stretch>
            <a:fillRect/>
          </a:stretch>
        </p:blipFill>
        <p:spPr>
          <a:xfrm>
            <a:off x="0" y="4762500"/>
            <a:ext cx="9144000" cy="381000"/>
          </a:xfrm>
          <a:prstGeom prst="rect">
            <a:avLst/>
          </a:prstGeom>
        </p:spPr>
      </p:pic>
      <p:pic>
        <p:nvPicPr>
          <p:cNvPr id="13" name="Image 1" descr="preencoded.png">    </p:cNvPr>
          <p:cNvPicPr>
            <a:picLocks noChangeAspect="1"/>
          </p:cNvPicPr>
          <p:nvPr/>
        </p:nvPicPr>
        <p:blipFill>
          <a:blip r:embed="rId2"/>
          <a:stretch>
            <a:fillRect/>
          </a:stretch>
        </p:blipFill>
        <p:spPr>
          <a:xfrm>
            <a:off x="800100" y="1604963"/>
            <a:ext cx="5524500" cy="4763"/>
          </a:xfrm>
          <a:prstGeom prst="rect">
            <a:avLst/>
          </a:prstGeom>
        </p:spPr>
      </p:pic>
      <p:pic>
        <p:nvPicPr>
          <p:cNvPr id="14" name="Image 2" descr="preencoded.png">    </p:cNvPr>
          <p:cNvPicPr>
            <a:picLocks noChangeAspect="1"/>
          </p:cNvPicPr>
          <p:nvPr/>
        </p:nvPicPr>
        <p:blipFill>
          <a:blip r:embed="rId3"/>
          <a:stretch>
            <a:fillRect/>
          </a:stretch>
        </p:blipFill>
        <p:spPr>
          <a:xfrm>
            <a:off x="800100" y="2238375"/>
            <a:ext cx="5524500" cy="4763"/>
          </a:xfrm>
          <a:prstGeom prst="rect">
            <a:avLst/>
          </a:prstGeom>
        </p:spPr>
      </p:pic>
      <p:pic>
        <p:nvPicPr>
          <p:cNvPr id="15" name="Image 3" descr="preencoded.png">    </p:cNvPr>
          <p:cNvPicPr>
            <a:picLocks noChangeAspect="1"/>
          </p:cNvPicPr>
          <p:nvPr/>
        </p:nvPicPr>
        <p:blipFill>
          <a:blip r:embed="rId4"/>
          <a:stretch>
            <a:fillRect/>
          </a:stretch>
        </p:blipFill>
        <p:spPr>
          <a:xfrm>
            <a:off x="800100" y="2871788"/>
            <a:ext cx="5524500" cy="4763"/>
          </a:xfrm>
          <a:prstGeom prst="rect">
            <a:avLst/>
          </a:prstGeom>
        </p:spPr>
      </p:pic>
      <p:pic>
        <p:nvPicPr>
          <p:cNvPr id="16" name="Image 4" descr="preencoded.png">    </p:cNvPr>
          <p:cNvPicPr>
            <a:picLocks noChangeAspect="1"/>
          </p:cNvPicPr>
          <p:nvPr/>
        </p:nvPicPr>
        <p:blipFill>
          <a:blip r:embed="rId5"/>
          <a:stretch>
            <a:fillRect/>
          </a:stretch>
        </p:blipFill>
        <p:spPr>
          <a:xfrm>
            <a:off x="800100" y="3505200"/>
            <a:ext cx="5524500" cy="4763"/>
          </a:xfrm>
          <a:prstGeom prst="rect">
            <a:avLst/>
          </a:prstGeom>
        </p:spPr>
      </p:pic>
      <p:sp>
        <p:nvSpPr>
          <p:cNvPr id="17" name="Text 9"/>
          <p:cNvSpPr/>
          <p:nvPr/>
        </p:nvSpPr>
        <p:spPr>
          <a:xfrm>
            <a:off x="800100" y="609600"/>
            <a:ext cx="12858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Agenda</a:t>
            </a:r>
            <a:endParaRPr lang="en-US" sz="1800" dirty="0"/>
          </a:p>
        </p:txBody>
      </p:sp>
      <p:sp>
        <p:nvSpPr>
          <p:cNvPr id="18" name="Text 10"/>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
        <p:nvSpPr>
          <p:cNvPr id="19" name="Text 11"/>
          <p:cNvSpPr/>
          <p:nvPr/>
        </p:nvSpPr>
        <p:spPr>
          <a:xfrm>
            <a:off x="800100" y="3005138"/>
            <a:ext cx="933450" cy="366713"/>
          </a:xfrm>
          <a:prstGeom prst="rect">
            <a:avLst/>
          </a:prstGeom>
          <a:noFill/>
          <a:ln/>
        </p:spPr>
        <p:txBody>
          <a:bodyPr wrap="square" rtlCol="0" anchor="ctr"/>
          <a:lstStyle/>
          <a:p>
            <a:pPr algn="ctr" indent="0" marL="0">
              <a:lnSpc>
                <a:spcPts val="2880"/>
              </a:lnSpc>
              <a:buNone/>
            </a:pPr>
            <a:r>
              <a:rPr lang="en-US" sz="2400" b="1" spc="-36" kern="0" dirty="0">
                <a:solidFill>
                  <a:srgbClr val="E26E1F">
                    <a:alpha val="99000"/>
                  </a:srgbClr>
                </a:solidFill>
                <a:latin typeface="Manrope" pitchFamily="34" charset="0"/>
                <a:ea typeface="Manrope" pitchFamily="34" charset="-122"/>
                <a:cs typeface="Manrope" pitchFamily="34" charset="-120"/>
              </a:rPr>
              <a:t>4</a:t>
            </a:r>
            <a:endParaRPr lang="en-US" sz="2400" dirty="0"/>
          </a:p>
        </p:txBody>
      </p:sp>
      <p:sp>
        <p:nvSpPr>
          <p:cNvPr id="20" name="Text 12"/>
          <p:cNvSpPr/>
          <p:nvPr/>
        </p:nvSpPr>
        <p:spPr>
          <a:xfrm>
            <a:off x="1352550" y="3005138"/>
            <a:ext cx="5429250" cy="366713"/>
          </a:xfrm>
          <a:prstGeom prst="rect">
            <a:avLst/>
          </a:prstGeom>
          <a:noFill/>
          <a:ln/>
        </p:spPr>
        <p:txBody>
          <a:bodyPr wrap="square" rtlCol="0" anchor="ctr"/>
          <a:lstStyle/>
          <a:p>
            <a:pPr algn="l" indent="0" marL="0">
              <a:lnSpc>
                <a:spcPts val="2880"/>
              </a:lnSpc>
              <a:buNone/>
            </a:pPr>
            <a:r>
              <a:rPr lang="en-US" sz="2400" b="1" spc="-36" kern="0" dirty="0">
                <a:solidFill>
                  <a:srgbClr val="000614">
                    <a:alpha val="99000"/>
                  </a:srgbClr>
                </a:solidFill>
                <a:latin typeface="Manrope" pitchFamily="34" charset="0"/>
                <a:ea typeface="Manrope" pitchFamily="34" charset="-122"/>
                <a:cs typeface="Manrope" pitchFamily="34" charset="-120"/>
              </a:rPr>
              <a:t>Tech Stack</a:t>
            </a:r>
            <a:endParaRPr lang="en-US" sz="2400" dirty="0"/>
          </a:p>
        </p:txBody>
      </p:sp>
      <p:sp>
        <p:nvSpPr>
          <p:cNvPr id="21" name="Text 13"/>
          <p:cNvSpPr/>
          <p:nvPr/>
        </p:nvSpPr>
        <p:spPr>
          <a:xfrm>
            <a:off x="800100" y="2371725"/>
            <a:ext cx="933450" cy="366713"/>
          </a:xfrm>
          <a:prstGeom prst="rect">
            <a:avLst/>
          </a:prstGeom>
          <a:noFill/>
          <a:ln/>
        </p:spPr>
        <p:txBody>
          <a:bodyPr wrap="square" rtlCol="0" anchor="ctr"/>
          <a:lstStyle/>
          <a:p>
            <a:pPr algn="ctr" indent="0" marL="0">
              <a:lnSpc>
                <a:spcPts val="2880"/>
              </a:lnSpc>
              <a:buNone/>
            </a:pPr>
            <a:r>
              <a:rPr lang="en-US" sz="2400" b="1" spc="-36" kern="0" dirty="0">
                <a:solidFill>
                  <a:srgbClr val="E26E1F">
                    <a:alpha val="99000"/>
                  </a:srgbClr>
                </a:solidFill>
                <a:latin typeface="Manrope" pitchFamily="34" charset="0"/>
                <a:ea typeface="Manrope" pitchFamily="34" charset="-122"/>
                <a:cs typeface="Manrope" pitchFamily="34" charset="-120"/>
              </a:rPr>
              <a:t>3</a:t>
            </a:r>
            <a:endParaRPr lang="en-US" sz="2400" dirty="0"/>
          </a:p>
        </p:txBody>
      </p:sp>
      <p:sp>
        <p:nvSpPr>
          <p:cNvPr id="22" name="Text 14"/>
          <p:cNvSpPr/>
          <p:nvPr/>
        </p:nvSpPr>
        <p:spPr>
          <a:xfrm>
            <a:off x="1352550" y="2371725"/>
            <a:ext cx="5429250" cy="366713"/>
          </a:xfrm>
          <a:prstGeom prst="rect">
            <a:avLst/>
          </a:prstGeom>
          <a:noFill/>
          <a:ln/>
        </p:spPr>
        <p:txBody>
          <a:bodyPr wrap="square" rtlCol="0" anchor="ctr"/>
          <a:lstStyle/>
          <a:p>
            <a:pPr algn="l" indent="0" marL="0">
              <a:lnSpc>
                <a:spcPts val="2880"/>
              </a:lnSpc>
              <a:buNone/>
            </a:pPr>
            <a:r>
              <a:rPr lang="en-US" sz="2400" b="1" spc="-36" kern="0" dirty="0">
                <a:solidFill>
                  <a:srgbClr val="000614">
                    <a:alpha val="99000"/>
                  </a:srgbClr>
                </a:solidFill>
                <a:latin typeface="Manrope" pitchFamily="34" charset="0"/>
                <a:ea typeface="Manrope" pitchFamily="34" charset="-122"/>
                <a:cs typeface="Manrope" pitchFamily="34" charset="-120"/>
              </a:rPr>
              <a:t>UI/UX Design</a:t>
            </a:r>
            <a:endParaRPr lang="en-US" sz="2400" dirty="0"/>
          </a:p>
        </p:txBody>
      </p:sp>
      <p:sp>
        <p:nvSpPr>
          <p:cNvPr id="23" name="Text 15"/>
          <p:cNvSpPr/>
          <p:nvPr/>
        </p:nvSpPr>
        <p:spPr>
          <a:xfrm>
            <a:off x="800100" y="1738313"/>
            <a:ext cx="933450" cy="366713"/>
          </a:xfrm>
          <a:prstGeom prst="rect">
            <a:avLst/>
          </a:prstGeom>
          <a:noFill/>
          <a:ln/>
        </p:spPr>
        <p:txBody>
          <a:bodyPr wrap="square" rtlCol="0" anchor="ctr"/>
          <a:lstStyle/>
          <a:p>
            <a:pPr algn="ctr" indent="0" marL="0">
              <a:lnSpc>
                <a:spcPts val="2880"/>
              </a:lnSpc>
              <a:buNone/>
            </a:pPr>
            <a:r>
              <a:rPr lang="en-US" sz="2400" b="1" spc="-36" kern="0" dirty="0">
                <a:solidFill>
                  <a:srgbClr val="E26E1F">
                    <a:alpha val="99000"/>
                  </a:srgbClr>
                </a:solidFill>
                <a:latin typeface="Manrope" pitchFamily="34" charset="0"/>
                <a:ea typeface="Manrope" pitchFamily="34" charset="-122"/>
                <a:cs typeface="Manrope" pitchFamily="34" charset="-120"/>
              </a:rPr>
              <a:t>2</a:t>
            </a:r>
            <a:endParaRPr lang="en-US" sz="2400" dirty="0"/>
          </a:p>
        </p:txBody>
      </p:sp>
      <p:sp>
        <p:nvSpPr>
          <p:cNvPr id="24" name="Text 16"/>
          <p:cNvSpPr/>
          <p:nvPr/>
        </p:nvSpPr>
        <p:spPr>
          <a:xfrm>
            <a:off x="1352550" y="1738313"/>
            <a:ext cx="5429250" cy="366713"/>
          </a:xfrm>
          <a:prstGeom prst="rect">
            <a:avLst/>
          </a:prstGeom>
          <a:noFill/>
          <a:ln/>
        </p:spPr>
        <p:txBody>
          <a:bodyPr wrap="square" rtlCol="0" anchor="ctr"/>
          <a:lstStyle/>
          <a:p>
            <a:pPr algn="l" indent="0" marL="0">
              <a:lnSpc>
                <a:spcPts val="2880"/>
              </a:lnSpc>
              <a:buNone/>
            </a:pPr>
            <a:r>
              <a:rPr lang="en-US" sz="2400" b="1" spc="-36" kern="0" dirty="0">
                <a:solidFill>
                  <a:srgbClr val="000614">
                    <a:alpha val="99000"/>
                  </a:srgbClr>
                </a:solidFill>
                <a:latin typeface="Manrope" pitchFamily="34" charset="0"/>
                <a:ea typeface="Manrope" pitchFamily="34" charset="-122"/>
                <a:cs typeface="Manrope" pitchFamily="34" charset="-120"/>
              </a:rPr>
              <a:t>Revision Target</a:t>
            </a:r>
            <a:endParaRPr lang="en-US" sz="2400" dirty="0"/>
          </a:p>
        </p:txBody>
      </p:sp>
      <p:sp>
        <p:nvSpPr>
          <p:cNvPr id="25" name="Text 17"/>
          <p:cNvSpPr/>
          <p:nvPr/>
        </p:nvSpPr>
        <p:spPr>
          <a:xfrm>
            <a:off x="800100" y="1104900"/>
            <a:ext cx="933450" cy="366713"/>
          </a:xfrm>
          <a:prstGeom prst="rect">
            <a:avLst/>
          </a:prstGeom>
          <a:noFill/>
          <a:ln/>
        </p:spPr>
        <p:txBody>
          <a:bodyPr wrap="square" rtlCol="0" anchor="ctr"/>
          <a:lstStyle/>
          <a:p>
            <a:pPr algn="ctr" indent="0" marL="0">
              <a:lnSpc>
                <a:spcPts val="2880"/>
              </a:lnSpc>
              <a:buNone/>
            </a:pPr>
            <a:r>
              <a:rPr lang="en-US" sz="2400" b="1" spc="-36" kern="0" dirty="0">
                <a:solidFill>
                  <a:srgbClr val="E26E1F">
                    <a:alpha val="99000"/>
                  </a:srgbClr>
                </a:solidFill>
                <a:latin typeface="Manrope" pitchFamily="34" charset="0"/>
                <a:ea typeface="Manrope" pitchFamily="34" charset="-122"/>
                <a:cs typeface="Manrope" pitchFamily="34" charset="-120"/>
              </a:rPr>
              <a:t>1</a:t>
            </a:r>
            <a:endParaRPr lang="en-US" sz="2400" dirty="0"/>
          </a:p>
        </p:txBody>
      </p:sp>
      <p:sp>
        <p:nvSpPr>
          <p:cNvPr id="26" name="Text 18"/>
          <p:cNvSpPr/>
          <p:nvPr/>
        </p:nvSpPr>
        <p:spPr>
          <a:xfrm>
            <a:off x="1352550" y="1104900"/>
            <a:ext cx="5429250" cy="366713"/>
          </a:xfrm>
          <a:prstGeom prst="rect">
            <a:avLst/>
          </a:prstGeom>
          <a:noFill/>
          <a:ln/>
        </p:spPr>
        <p:txBody>
          <a:bodyPr wrap="square" rtlCol="0" anchor="ctr"/>
          <a:lstStyle/>
          <a:p>
            <a:pPr algn="l" indent="0" marL="0">
              <a:lnSpc>
                <a:spcPts val="2880"/>
              </a:lnSpc>
              <a:buNone/>
            </a:pPr>
            <a:r>
              <a:rPr lang="en-US" sz="2400" b="1" spc="-36" kern="0" dirty="0">
                <a:solidFill>
                  <a:srgbClr val="000614">
                    <a:alpha val="99000"/>
                  </a:srgbClr>
                </a:solidFill>
                <a:latin typeface="Manrope" pitchFamily="34" charset="0"/>
                <a:ea typeface="Manrope" pitchFamily="34" charset="-122"/>
                <a:cs typeface="Manrope" pitchFamily="34" charset="-120"/>
              </a:rPr>
              <a:t>Why Redesign?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800100" y="1123950"/>
            <a:ext cx="7478536" cy="3180470"/>
          </a:xfrm>
          <a:prstGeom prst="rect">
            <a:avLst/>
          </a:prstGeom>
          <a:no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91" y="4848225"/>
            <a:ext cx="206935" cy="206935"/>
          </a:xfrm>
          <a:prstGeom prst="triangle">
            <a:avLst/>
          </a:prstGeom>
          <a:solidFill>
            <a:srgbClr val="FAFBFF"/>
          </a:solidFill>
          <a:ln/>
        </p:spPr>
      </p:sp>
      <p:sp>
        <p:nvSpPr>
          <p:cNvPr id="7" name="Shape 4"/>
          <p:cNvSpPr/>
          <p:nvPr/>
        </p:nvSpPr>
        <p:spPr>
          <a:xfrm>
            <a:off x="663892" y="4872990"/>
            <a:ext cx="136208" cy="136208"/>
          </a:xfrm>
          <a:prstGeom prst="roundRect">
            <a:avLst/>
          </a:prstGeom>
          <a:solidFill>
            <a:srgbClr val="FAFBFF"/>
          </a:solidFill>
          <a:ln/>
        </p:spPr>
      </p:sp>
      <p:pic>
        <p:nvPicPr>
          <p:cNvPr id="8" name="Image 0" descr="preencoded.png">    </p:cNvPr>
          <p:cNvPicPr>
            <a:picLocks noChangeAspect="1"/>
          </p:cNvPicPr>
          <p:nvPr/>
        </p:nvPicPr>
        <p:blipFill>
          <a:blip r:embed="rId1"/>
          <a:stretch>
            <a:fillRect/>
          </a:stretch>
        </p:blipFill>
        <p:spPr>
          <a:xfrm>
            <a:off x="0" y="4762500"/>
            <a:ext cx="9144000" cy="381000"/>
          </a:xfrm>
          <a:prstGeom prst="rect">
            <a:avLst/>
          </a:prstGeom>
        </p:spPr>
      </p:pic>
      <p:pic>
        <p:nvPicPr>
          <p:cNvPr id="9" name="Image 1" descr="preencoded.png">    </p:cNvPr>
          <p:cNvPicPr>
            <a:picLocks noChangeAspect="1"/>
          </p:cNvPicPr>
          <p:nvPr/>
        </p:nvPicPr>
        <p:blipFill>
          <a:blip r:embed="rId2"/>
          <a:stretch>
            <a:fillRect/>
          </a:stretch>
        </p:blipFill>
        <p:spPr>
          <a:xfrm>
            <a:off x="6810273" y="1203752"/>
            <a:ext cx="1393880" cy="3021848"/>
          </a:xfrm>
          <a:prstGeom prst="rect">
            <a:avLst/>
          </a:prstGeom>
        </p:spPr>
      </p:pic>
      <p:pic>
        <p:nvPicPr>
          <p:cNvPr id="10" name="Image 2" descr="preencoded.png">    </p:cNvPr>
          <p:cNvPicPr>
            <a:picLocks noChangeAspect="1"/>
          </p:cNvPicPr>
          <p:nvPr/>
        </p:nvPicPr>
        <p:blipFill>
          <a:blip r:embed="rId3"/>
          <a:stretch>
            <a:fillRect/>
          </a:stretch>
        </p:blipFill>
        <p:spPr>
          <a:xfrm>
            <a:off x="6730471" y="1123950"/>
            <a:ext cx="1548166" cy="3180470"/>
          </a:xfrm>
          <a:prstGeom prst="rect">
            <a:avLst/>
          </a:prstGeom>
        </p:spPr>
      </p:pic>
      <p:pic>
        <p:nvPicPr>
          <p:cNvPr id="11" name="Image 3" descr="preencoded.png">    </p:cNvPr>
          <p:cNvPicPr>
            <a:picLocks noChangeAspect="1"/>
          </p:cNvPicPr>
          <p:nvPr/>
        </p:nvPicPr>
        <p:blipFill>
          <a:blip r:embed="rId4"/>
          <a:stretch>
            <a:fillRect/>
          </a:stretch>
        </p:blipFill>
        <p:spPr>
          <a:xfrm>
            <a:off x="4833482" y="1203752"/>
            <a:ext cx="1393880" cy="3021848"/>
          </a:xfrm>
          <a:prstGeom prst="rect">
            <a:avLst/>
          </a:prstGeom>
        </p:spPr>
      </p:pic>
      <p:pic>
        <p:nvPicPr>
          <p:cNvPr id="12" name="Image 4" descr="preencoded.png">    </p:cNvPr>
          <p:cNvPicPr>
            <a:picLocks noChangeAspect="1"/>
          </p:cNvPicPr>
          <p:nvPr/>
        </p:nvPicPr>
        <p:blipFill>
          <a:blip r:embed="rId5"/>
          <a:stretch>
            <a:fillRect/>
          </a:stretch>
        </p:blipFill>
        <p:spPr>
          <a:xfrm>
            <a:off x="4753680" y="1123950"/>
            <a:ext cx="1548166" cy="3180470"/>
          </a:xfrm>
          <a:prstGeom prst="rect">
            <a:avLst/>
          </a:prstGeom>
        </p:spPr>
      </p:pic>
      <p:pic>
        <p:nvPicPr>
          <p:cNvPr id="13" name="Image 5" descr="preencoded.png">    </p:cNvPr>
          <p:cNvPicPr>
            <a:picLocks noChangeAspect="1"/>
          </p:cNvPicPr>
          <p:nvPr/>
        </p:nvPicPr>
        <p:blipFill>
          <a:blip r:embed="rId6"/>
          <a:stretch>
            <a:fillRect/>
          </a:stretch>
        </p:blipFill>
        <p:spPr>
          <a:xfrm>
            <a:off x="2856693" y="1203752"/>
            <a:ext cx="1393880" cy="3021848"/>
          </a:xfrm>
          <a:prstGeom prst="rect">
            <a:avLst/>
          </a:prstGeom>
        </p:spPr>
      </p:pic>
      <p:pic>
        <p:nvPicPr>
          <p:cNvPr id="14" name="Image 6" descr="preencoded.png">    </p:cNvPr>
          <p:cNvPicPr>
            <a:picLocks noChangeAspect="1"/>
          </p:cNvPicPr>
          <p:nvPr/>
        </p:nvPicPr>
        <p:blipFill>
          <a:blip r:embed="rId7"/>
          <a:stretch>
            <a:fillRect/>
          </a:stretch>
        </p:blipFill>
        <p:spPr>
          <a:xfrm>
            <a:off x="2776891" y="1123950"/>
            <a:ext cx="1548166" cy="3180470"/>
          </a:xfrm>
          <a:prstGeom prst="rect">
            <a:avLst/>
          </a:prstGeom>
        </p:spPr>
      </p:pic>
      <p:pic>
        <p:nvPicPr>
          <p:cNvPr id="15" name="Image 7" descr="preencoded.png">    </p:cNvPr>
          <p:cNvPicPr>
            <a:picLocks noChangeAspect="1"/>
          </p:cNvPicPr>
          <p:nvPr/>
        </p:nvPicPr>
        <p:blipFill>
          <a:blip r:embed="rId8"/>
          <a:stretch>
            <a:fillRect/>
          </a:stretch>
        </p:blipFill>
        <p:spPr>
          <a:xfrm>
            <a:off x="879902" y="1203752"/>
            <a:ext cx="1393880" cy="3021848"/>
          </a:xfrm>
          <a:prstGeom prst="rect">
            <a:avLst/>
          </a:prstGeom>
        </p:spPr>
      </p:pic>
      <p:pic>
        <p:nvPicPr>
          <p:cNvPr id="16" name="Image 8" descr="preencoded.png">    </p:cNvPr>
          <p:cNvPicPr>
            <a:picLocks noChangeAspect="1"/>
          </p:cNvPicPr>
          <p:nvPr/>
        </p:nvPicPr>
        <p:blipFill>
          <a:blip r:embed="rId9"/>
          <a:stretch>
            <a:fillRect/>
          </a:stretch>
        </p:blipFill>
        <p:spPr>
          <a:xfrm>
            <a:off x="800100" y="1123950"/>
            <a:ext cx="1548166" cy="3180470"/>
          </a:xfrm>
          <a:prstGeom prst="rect">
            <a:avLst/>
          </a:prstGeom>
        </p:spPr>
      </p:pic>
      <p:sp>
        <p:nvSpPr>
          <p:cNvPr id="17" name="Text 5"/>
          <p:cNvSpPr/>
          <p:nvPr/>
        </p:nvSpPr>
        <p:spPr>
          <a:xfrm>
            <a:off x="800100" y="609600"/>
            <a:ext cx="26193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Old User Experience</a:t>
            </a:r>
            <a:endParaRPr lang="en-US" sz="1800" dirty="0"/>
          </a:p>
        </p:txBody>
      </p:sp>
      <p:sp>
        <p:nvSpPr>
          <p:cNvPr id="18" name="Text 6"/>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0" y="4762500"/>
            <a:ext cx="9144000" cy="381000"/>
          </a:xfrm>
          <a:prstGeom prst="rect">
            <a:avLst/>
          </a:prstGeom>
          <a:solidFill>
            <a:srgbClr val="000614"/>
          </a:solid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91" y="4848225"/>
            <a:ext cx="206935" cy="206935"/>
          </a:xfrm>
          <a:prstGeom prst="triangle">
            <a:avLst/>
          </a:prstGeom>
          <a:solidFill>
            <a:srgbClr val="FAFBFF"/>
          </a:solidFill>
          <a:ln/>
        </p:spPr>
      </p:sp>
      <p:sp>
        <p:nvSpPr>
          <p:cNvPr id="7" name="Shape 4"/>
          <p:cNvSpPr/>
          <p:nvPr/>
        </p:nvSpPr>
        <p:spPr>
          <a:xfrm>
            <a:off x="663892" y="4872990"/>
            <a:ext cx="136208" cy="136208"/>
          </a:xfrm>
          <a:prstGeom prst="roundRect">
            <a:avLst/>
          </a:prstGeom>
          <a:solidFill>
            <a:srgbClr val="FAFBFF"/>
          </a:solidFill>
          <a:ln/>
        </p:spPr>
      </p:sp>
      <p:sp>
        <p:nvSpPr>
          <p:cNvPr id="8" name="Text 5"/>
          <p:cNvSpPr/>
          <p:nvPr/>
        </p:nvSpPr>
        <p:spPr>
          <a:xfrm>
            <a:off x="800100" y="609600"/>
            <a:ext cx="21240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Why Redesign?</a:t>
            </a:r>
            <a:endParaRPr lang="en-US" sz="1800" dirty="0"/>
          </a:p>
        </p:txBody>
      </p:sp>
      <p:sp>
        <p:nvSpPr>
          <p:cNvPr id="9" name="Text 6"/>
          <p:cNvSpPr/>
          <p:nvPr/>
        </p:nvSpPr>
        <p:spPr>
          <a:xfrm>
            <a:off x="800100" y="116205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01 視覺層面
</a:t>
            </a:r>
            <a:endParaRPr lang="en-US" sz="1350" dirty="0"/>
          </a:p>
        </p:txBody>
      </p:sp>
      <p:sp>
        <p:nvSpPr>
          <p:cNvPr id="10" name="Text 7"/>
          <p:cNvSpPr/>
          <p:nvPr/>
        </p:nvSpPr>
        <p:spPr>
          <a:xfrm>
            <a:off x="800100" y="205740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02 交互層面</a:t>
            </a:r>
            <a:endParaRPr lang="en-US" sz="1350" dirty="0"/>
          </a:p>
        </p:txBody>
      </p:sp>
      <p:sp>
        <p:nvSpPr>
          <p:cNvPr id="11" name="Text 8"/>
          <p:cNvSpPr/>
          <p:nvPr/>
        </p:nvSpPr>
        <p:spPr>
          <a:xfrm>
            <a:off x="2081212" y="3233738"/>
            <a:ext cx="6024563"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理論上每次借用有時間、次數以及數量的限制，以保障所有人的使用權益
</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但實務上舊系統卻沒有任何判斷機制，導致制度形同虛設
</a:t>
            </a:r>
            <a:endParaRPr lang="en-US" sz="1350" dirty="0"/>
          </a:p>
        </p:txBody>
      </p:sp>
      <p:sp>
        <p:nvSpPr>
          <p:cNvPr id="12" name="Text 9"/>
          <p:cNvSpPr/>
          <p:nvPr/>
        </p:nvSpPr>
        <p:spPr>
          <a:xfrm>
            <a:off x="2081212" y="2057400"/>
            <a:ext cx="6024563" cy="77152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缺乏邏輯性與直覺性，交互過於密集容易誤操作，並且資訊層級太深，
</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需要至少四層深度才能取得詳情，並且刪除事件需額外聯絡管理員，
</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而這是五年前的系統，系統已長時間處於無管理員狀態。
</a:t>
            </a:r>
            <a:endParaRPr lang="en-US" sz="1350" dirty="0"/>
          </a:p>
        </p:txBody>
      </p:sp>
      <p:sp>
        <p:nvSpPr>
          <p:cNvPr id="13" name="Text 10"/>
          <p:cNvSpPr/>
          <p:nvPr/>
        </p:nvSpPr>
        <p:spPr>
          <a:xfrm>
            <a:off x="2081212" y="1162050"/>
            <a:ext cx="6024563"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設計老舊，缺乏品牌識別；介面過於緊湊、資訊層級不清晰足，
</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同時使用規章辨識度過低，導致沒有任何人閱讀，
</a:t>
            </a:r>
            <a:endParaRPr lang="en-US" sz="1350" dirty="0"/>
          </a:p>
        </p:txBody>
      </p:sp>
      <p:sp>
        <p:nvSpPr>
          <p:cNvPr id="14" name="Text 11"/>
          <p:cNvSpPr/>
          <p:nvPr/>
        </p:nvSpPr>
        <p:spPr>
          <a:xfrm>
            <a:off x="800100" y="4362450"/>
            <a:ext cx="5181447"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簡單來說就是，舊系統根本就沒有做任何設計...</a:t>
            </a:r>
            <a:endParaRPr lang="en-US" sz="900" dirty="0"/>
          </a:p>
        </p:txBody>
      </p:sp>
      <p:sp>
        <p:nvSpPr>
          <p:cNvPr id="15" name="Text 12"/>
          <p:cNvSpPr/>
          <p:nvPr/>
        </p:nvSpPr>
        <p:spPr>
          <a:xfrm>
            <a:off x="800100" y="3209925"/>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03 管理層面
</a:t>
            </a:r>
            <a:endParaRPr lang="en-US" sz="1350" dirty="0"/>
          </a:p>
        </p:txBody>
      </p:sp>
      <p:sp>
        <p:nvSpPr>
          <p:cNvPr id="16" name="Text 13"/>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0" y="4762500"/>
            <a:ext cx="9144000" cy="381000"/>
          </a:xfrm>
          <a:prstGeom prst="rect">
            <a:avLst/>
          </a:prstGeom>
          <a:solidFill>
            <a:srgbClr val="000614"/>
          </a:solid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91" y="4848225"/>
            <a:ext cx="206935" cy="206935"/>
          </a:xfrm>
          <a:prstGeom prst="triangle">
            <a:avLst/>
          </a:prstGeom>
          <a:solidFill>
            <a:srgbClr val="FAFBFF"/>
          </a:solidFill>
          <a:ln/>
        </p:spPr>
      </p:sp>
      <p:sp>
        <p:nvSpPr>
          <p:cNvPr id="7" name="Shape 4"/>
          <p:cNvSpPr/>
          <p:nvPr/>
        </p:nvSpPr>
        <p:spPr>
          <a:xfrm>
            <a:off x="663894" y="4872990"/>
            <a:ext cx="136208" cy="136208"/>
          </a:xfrm>
          <a:prstGeom prst="roundRect">
            <a:avLst/>
          </a:prstGeom>
          <a:solidFill>
            <a:srgbClr val="FAFBFF"/>
          </a:solidFill>
          <a:ln/>
        </p:spPr>
      </p:sp>
      <p:pic>
        <p:nvPicPr>
          <p:cNvPr id="8" name="Image 0" descr="preencoded.png">    </p:cNvPr>
          <p:cNvPicPr>
            <a:picLocks noChangeAspect="1"/>
          </p:cNvPicPr>
          <p:nvPr/>
        </p:nvPicPr>
        <p:blipFill>
          <a:blip r:embed="rId1"/>
          <a:stretch>
            <a:fillRect/>
          </a:stretch>
        </p:blipFill>
        <p:spPr>
          <a:xfrm>
            <a:off x="2362200" y="1281113"/>
            <a:ext cx="1123950" cy="70142"/>
          </a:xfrm>
          <a:prstGeom prst="rect">
            <a:avLst/>
          </a:prstGeom>
        </p:spPr>
      </p:pic>
      <p:pic>
        <p:nvPicPr>
          <p:cNvPr id="9" name="Image 1" descr="preencoded.png">    </p:cNvPr>
          <p:cNvPicPr>
            <a:picLocks noChangeAspect="1"/>
          </p:cNvPicPr>
          <p:nvPr/>
        </p:nvPicPr>
        <p:blipFill>
          <a:blip r:embed="rId2"/>
          <a:stretch>
            <a:fillRect/>
          </a:stretch>
        </p:blipFill>
        <p:spPr>
          <a:xfrm>
            <a:off x="2357438" y="2185988"/>
            <a:ext cx="1123950" cy="70142"/>
          </a:xfrm>
          <a:prstGeom prst="rect">
            <a:avLst/>
          </a:prstGeom>
        </p:spPr>
      </p:pic>
      <p:pic>
        <p:nvPicPr>
          <p:cNvPr id="10" name="Image 2" descr="preencoded.png">    </p:cNvPr>
          <p:cNvPicPr>
            <a:picLocks noChangeAspect="1"/>
          </p:cNvPicPr>
          <p:nvPr/>
        </p:nvPicPr>
        <p:blipFill>
          <a:blip r:embed="rId3"/>
          <a:stretch>
            <a:fillRect/>
          </a:stretch>
        </p:blipFill>
        <p:spPr>
          <a:xfrm>
            <a:off x="2357438" y="3338513"/>
            <a:ext cx="1123950" cy="70142"/>
          </a:xfrm>
          <a:prstGeom prst="rect">
            <a:avLst/>
          </a:prstGeom>
        </p:spPr>
      </p:pic>
      <p:sp>
        <p:nvSpPr>
          <p:cNvPr id="11" name="Text 5"/>
          <p:cNvSpPr/>
          <p:nvPr/>
        </p:nvSpPr>
        <p:spPr>
          <a:xfrm>
            <a:off x="800100" y="609600"/>
            <a:ext cx="21240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Revision Target</a:t>
            </a:r>
            <a:endParaRPr lang="en-US" sz="1800" dirty="0"/>
          </a:p>
        </p:txBody>
      </p:sp>
      <p:sp>
        <p:nvSpPr>
          <p:cNvPr id="12" name="Text 6"/>
          <p:cNvSpPr/>
          <p:nvPr/>
        </p:nvSpPr>
        <p:spPr>
          <a:xfrm>
            <a:off x="800100" y="1162050"/>
            <a:ext cx="1738313"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結構太過深層</a:t>
            </a:r>
            <a:endParaRPr lang="en-US" sz="1350" dirty="0"/>
          </a:p>
        </p:txBody>
      </p:sp>
      <p:sp>
        <p:nvSpPr>
          <p:cNvPr id="13" name="Text 7"/>
          <p:cNvSpPr/>
          <p:nvPr/>
        </p:nvSpPr>
        <p:spPr>
          <a:xfrm>
            <a:off x="800100" y="2057400"/>
            <a:ext cx="1738313"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資訊過於密集</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難以檢視和確認</a:t>
            </a:r>
            <a:endParaRPr lang="en-US" sz="1350" dirty="0"/>
          </a:p>
        </p:txBody>
      </p:sp>
      <p:sp>
        <p:nvSpPr>
          <p:cNvPr id="14" name="Text 8"/>
          <p:cNvSpPr/>
          <p:nvPr/>
        </p:nvSpPr>
        <p:spPr>
          <a:xfrm>
            <a:off x="3752850" y="2057400"/>
            <a:ext cx="2809875"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設計好看的 UI 介面</a:t>
            </a:r>
            <a:endParaRPr lang="en-US" sz="1350" dirty="0"/>
          </a:p>
        </p:txBody>
      </p:sp>
      <p:sp>
        <p:nvSpPr>
          <p:cNvPr id="15" name="Text 9"/>
          <p:cNvSpPr/>
          <p:nvPr/>
        </p:nvSpPr>
        <p:spPr>
          <a:xfrm>
            <a:off x="3752850" y="1162050"/>
            <a:ext cx="3286125"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透過不同分頁以及元件設計</a:t>
            </a:r>
            <a:endParaRPr lang="en-US" sz="1350" dirty="0"/>
          </a:p>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讓資訊以及功能層級扁平化</a:t>
            </a:r>
            <a:endParaRPr lang="en-US" sz="1350" dirty="0"/>
          </a:p>
        </p:txBody>
      </p:sp>
      <p:sp>
        <p:nvSpPr>
          <p:cNvPr id="16" name="Text 10"/>
          <p:cNvSpPr/>
          <p:nvPr/>
        </p:nvSpPr>
        <p:spPr>
          <a:xfrm>
            <a:off x="800100" y="4362450"/>
            <a:ext cx="5181447"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簡單來說就是，舊系統根本就沒有做任何設計...</a:t>
            </a:r>
            <a:endParaRPr lang="en-US" sz="900" dirty="0"/>
          </a:p>
        </p:txBody>
      </p:sp>
      <p:sp>
        <p:nvSpPr>
          <p:cNvPr id="17" name="Text 11"/>
          <p:cNvSpPr/>
          <p:nvPr/>
        </p:nvSpPr>
        <p:spPr>
          <a:xfrm>
            <a:off x="800100" y="3209925"/>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使用流程不直觀</a:t>
            </a:r>
            <a:endParaRPr lang="en-US" sz="1350" dirty="0"/>
          </a:p>
        </p:txBody>
      </p:sp>
      <p:sp>
        <p:nvSpPr>
          <p:cNvPr id="18" name="Text 12"/>
          <p:cNvSpPr/>
          <p:nvPr/>
        </p:nvSpPr>
        <p:spPr>
          <a:xfrm>
            <a:off x="3752850" y="3209925"/>
            <a:ext cx="2643188" cy="514350"/>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重新設計使用流程，並使用不同提示去管理使用進度</a:t>
            </a:r>
            <a:endParaRPr lang="en-US" sz="1350" dirty="0"/>
          </a:p>
        </p:txBody>
      </p:sp>
      <p:sp>
        <p:nvSpPr>
          <p:cNvPr id="19" name="Text 13"/>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2438400" y="1838325"/>
            <a:ext cx="4267200" cy="1933575"/>
          </a:xfrm>
          <a:prstGeom prst="rect">
            <a:avLst/>
          </a:prstGeom>
          <a:no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91" y="4848225"/>
            <a:ext cx="206935" cy="206935"/>
          </a:xfrm>
          <a:prstGeom prst="triangle">
            <a:avLst/>
          </a:prstGeom>
          <a:solidFill>
            <a:srgbClr val="FAFBFF"/>
          </a:solidFill>
          <a:ln/>
        </p:spPr>
      </p:sp>
      <p:sp>
        <p:nvSpPr>
          <p:cNvPr id="7" name="Shape 4"/>
          <p:cNvSpPr/>
          <p:nvPr/>
        </p:nvSpPr>
        <p:spPr>
          <a:xfrm>
            <a:off x="663894" y="4872990"/>
            <a:ext cx="136208" cy="136208"/>
          </a:xfrm>
          <a:prstGeom prst="roundRect">
            <a:avLst/>
          </a:prstGeom>
          <a:solidFill>
            <a:srgbClr val="FAFBFF"/>
          </a:solidFill>
          <a:ln/>
        </p:spPr>
      </p:sp>
      <p:sp>
        <p:nvSpPr>
          <p:cNvPr id="8" name="Shape 5"/>
          <p:cNvSpPr/>
          <p:nvPr/>
        </p:nvSpPr>
        <p:spPr>
          <a:xfrm>
            <a:off x="2438400" y="1838325"/>
            <a:ext cx="1905000" cy="1933575"/>
          </a:xfrm>
          <a:prstGeom prst="rect">
            <a:avLst/>
          </a:prstGeom>
          <a:noFill/>
          <a:ln/>
        </p:spPr>
      </p:sp>
      <p:sp>
        <p:nvSpPr>
          <p:cNvPr id="9" name="Shape 6"/>
          <p:cNvSpPr/>
          <p:nvPr/>
        </p:nvSpPr>
        <p:spPr>
          <a:xfrm>
            <a:off x="4800600" y="1843082"/>
            <a:ext cx="1905000" cy="1924060"/>
          </a:xfrm>
          <a:prstGeom prst="rect">
            <a:avLst/>
          </a:prstGeom>
          <a:noFill/>
          <a:ln/>
        </p:spPr>
      </p:sp>
      <p:sp>
        <p:nvSpPr>
          <p:cNvPr id="10" name="Shape 7"/>
          <p:cNvSpPr/>
          <p:nvPr/>
        </p:nvSpPr>
        <p:spPr>
          <a:xfrm>
            <a:off x="4991095" y="1843082"/>
            <a:ext cx="1524009" cy="1524010"/>
          </a:xfrm>
          <a:prstGeom prst="rect">
            <a:avLst/>
          </a:prstGeom>
          <a:noFill/>
          <a:ln/>
        </p:spPr>
      </p:sp>
      <p:sp>
        <p:nvSpPr>
          <p:cNvPr id="11" name="Shape 8"/>
          <p:cNvSpPr/>
          <p:nvPr/>
        </p:nvSpPr>
        <p:spPr>
          <a:xfrm>
            <a:off x="4991095" y="1843082"/>
            <a:ext cx="1524000" cy="1524000"/>
          </a:xfrm>
          <a:prstGeom prst="ellipse">
            <a:avLst/>
          </a:prstGeom>
          <a:solidFill>
            <a:srgbClr val="000614">
              <a:alpha val="10000"/>
            </a:srgbClr>
          </a:solidFill>
          <a:ln/>
        </p:spPr>
      </p:sp>
      <p:sp>
        <p:nvSpPr>
          <p:cNvPr id="12" name="Shape 9"/>
          <p:cNvSpPr/>
          <p:nvPr/>
        </p:nvSpPr>
        <p:spPr>
          <a:xfrm rot="-5400000">
            <a:off x="4991100" y="1843088"/>
            <a:ext cx="1524000" cy="1524000"/>
          </a:xfrm>
          <a:prstGeom prst="ellipse">
            <a:avLst/>
          </a:prstGeom>
          <a:solidFill>
            <a:srgbClr val="E26E1F"/>
          </a:solidFill>
          <a:ln/>
        </p:spPr>
      </p:sp>
      <p:sp>
        <p:nvSpPr>
          <p:cNvPr id="13" name="Shape 10"/>
          <p:cNvSpPr/>
          <p:nvPr/>
        </p:nvSpPr>
        <p:spPr>
          <a:xfrm>
            <a:off x="2628900" y="1838325"/>
            <a:ext cx="1524000" cy="1524000"/>
          </a:xfrm>
          <a:prstGeom prst="rect">
            <a:avLst/>
          </a:prstGeom>
          <a:noFill/>
          <a:ln/>
        </p:spPr>
      </p:sp>
      <p:sp>
        <p:nvSpPr>
          <p:cNvPr id="14" name="Shape 11"/>
          <p:cNvSpPr/>
          <p:nvPr/>
        </p:nvSpPr>
        <p:spPr>
          <a:xfrm>
            <a:off x="2628900" y="1838325"/>
            <a:ext cx="1524000" cy="1524000"/>
          </a:xfrm>
          <a:prstGeom prst="ellipse">
            <a:avLst/>
          </a:prstGeom>
          <a:solidFill>
            <a:srgbClr val="000614">
              <a:alpha val="10000"/>
            </a:srgbClr>
          </a:solidFill>
          <a:ln/>
        </p:spPr>
      </p:sp>
      <p:sp>
        <p:nvSpPr>
          <p:cNvPr id="15" name="Shape 12"/>
          <p:cNvSpPr/>
          <p:nvPr/>
        </p:nvSpPr>
        <p:spPr>
          <a:xfrm>
            <a:off x="2628900" y="1838325"/>
            <a:ext cx="1524000" cy="1524000"/>
          </a:xfrm>
          <a:prstGeom prst="ellipse">
            <a:avLst/>
          </a:prstGeom>
          <a:solidFill>
            <a:srgbClr val="E26E1F"/>
          </a:solidFill>
          <a:ln/>
        </p:spPr>
      </p:sp>
      <p:pic>
        <p:nvPicPr>
          <p:cNvPr id="16" name="Image 0" descr="preencoded.png">    </p:cNvPr>
          <p:cNvPicPr>
            <a:picLocks noChangeAspect="1"/>
          </p:cNvPicPr>
          <p:nvPr/>
        </p:nvPicPr>
        <p:blipFill>
          <a:blip r:embed="rId1"/>
          <a:stretch>
            <a:fillRect/>
          </a:stretch>
        </p:blipFill>
        <p:spPr>
          <a:xfrm>
            <a:off x="0" y="4762500"/>
            <a:ext cx="9144000" cy="381000"/>
          </a:xfrm>
          <a:prstGeom prst="rect">
            <a:avLst/>
          </a:prstGeom>
        </p:spPr>
      </p:pic>
      <p:sp>
        <p:nvSpPr>
          <p:cNvPr id="17" name="Text 13"/>
          <p:cNvSpPr/>
          <p:nvPr/>
        </p:nvSpPr>
        <p:spPr>
          <a:xfrm>
            <a:off x="800100" y="609600"/>
            <a:ext cx="13620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用戶群體</a:t>
            </a:r>
            <a:endParaRPr lang="en-US" sz="1800" dirty="0"/>
          </a:p>
        </p:txBody>
      </p:sp>
      <p:sp>
        <p:nvSpPr>
          <p:cNvPr id="18" name="Text 14"/>
          <p:cNvSpPr/>
          <p:nvPr/>
        </p:nvSpPr>
        <p:spPr>
          <a:xfrm>
            <a:off x="800100" y="895350"/>
            <a:ext cx="2419350" cy="366713"/>
          </a:xfrm>
          <a:prstGeom prst="rect">
            <a:avLst/>
          </a:prstGeom>
          <a:noFill/>
          <a:ln/>
        </p:spPr>
        <p:txBody>
          <a:bodyPr wrap="square" rtlCol="0" anchor="ctr"/>
          <a:lstStyle/>
          <a:p>
            <a:pPr algn="l" indent="0" marL="0">
              <a:lnSpc>
                <a:spcPts val="2880"/>
              </a:lnSpc>
              <a:buNone/>
            </a:pPr>
            <a:r>
              <a:rPr lang="en-US" sz="2400" b="1" spc="-36" kern="0" dirty="0">
                <a:solidFill>
                  <a:srgbClr val="000614">
                    <a:alpha val="99000"/>
                  </a:srgbClr>
                </a:solidFill>
                <a:latin typeface="Manrope" pitchFamily="34" charset="0"/>
                <a:ea typeface="Manrope" pitchFamily="34" charset="-122"/>
                <a:cs typeface="Manrope" pitchFamily="34" charset="-120"/>
              </a:rPr>
              <a:t>User  Analysis</a:t>
            </a:r>
            <a:endParaRPr lang="en-US" sz="2400" dirty="0"/>
          </a:p>
        </p:txBody>
      </p:sp>
      <p:sp>
        <p:nvSpPr>
          <p:cNvPr id="19" name="Text 15"/>
          <p:cNvSpPr/>
          <p:nvPr/>
        </p:nvSpPr>
        <p:spPr>
          <a:xfrm>
            <a:off x="8010525" y="4865968"/>
            <a:ext cx="1285875"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Company Name</a:t>
            </a:r>
            <a:endParaRPr lang="en-US" sz="900" dirty="0"/>
          </a:p>
        </p:txBody>
      </p:sp>
      <p:sp>
        <p:nvSpPr>
          <p:cNvPr id="20" name="Text 16"/>
          <p:cNvSpPr/>
          <p:nvPr/>
        </p:nvSpPr>
        <p:spPr>
          <a:xfrm>
            <a:off x="4800600" y="3509968"/>
            <a:ext cx="2362200" cy="257175"/>
          </a:xfrm>
          <a:prstGeom prst="rect">
            <a:avLst/>
          </a:prstGeom>
          <a:noFill/>
          <a:ln/>
        </p:spPr>
        <p:txBody>
          <a:bodyPr wrap="square" rtlCol="0" anchor="ctr"/>
          <a:lstStyle/>
          <a:p>
            <a:pPr algn="ctr"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蘋果用戶</a:t>
            </a:r>
            <a:endParaRPr lang="en-US" sz="1350" dirty="0"/>
          </a:p>
        </p:txBody>
      </p:sp>
      <p:sp>
        <p:nvSpPr>
          <p:cNvPr id="21" name="Text 17"/>
          <p:cNvSpPr/>
          <p:nvPr/>
        </p:nvSpPr>
        <p:spPr>
          <a:xfrm>
            <a:off x="5095870" y="2333620"/>
            <a:ext cx="1771650" cy="547688"/>
          </a:xfrm>
          <a:prstGeom prst="rect">
            <a:avLst/>
          </a:prstGeom>
          <a:noFill/>
          <a:ln/>
        </p:spPr>
        <p:txBody>
          <a:bodyPr wrap="square" rtlCol="0" anchor="ctr"/>
          <a:lstStyle/>
          <a:p>
            <a:pPr algn="ctr" indent="0" marL="0">
              <a:lnSpc>
                <a:spcPts val="4320"/>
              </a:lnSpc>
              <a:buNone/>
            </a:pPr>
            <a:r>
              <a:rPr lang="en-US" sz="3600" b="1" spc="-72" kern="0" dirty="0">
                <a:solidFill>
                  <a:srgbClr val="000614">
                    <a:alpha val="99000"/>
                  </a:srgbClr>
                </a:solidFill>
                <a:latin typeface="Manrope" pitchFamily="34" charset="0"/>
                <a:ea typeface="Manrope" pitchFamily="34" charset="-122"/>
                <a:cs typeface="Manrope" pitchFamily="34" charset="-120"/>
              </a:rPr>
              <a:t>57%</a:t>
            </a:r>
            <a:endParaRPr lang="en-US" sz="3600" dirty="0"/>
          </a:p>
        </p:txBody>
      </p:sp>
      <p:sp>
        <p:nvSpPr>
          <p:cNvPr id="22" name="Text 18"/>
          <p:cNvSpPr/>
          <p:nvPr/>
        </p:nvSpPr>
        <p:spPr>
          <a:xfrm>
            <a:off x="2438400" y="3514725"/>
            <a:ext cx="2362200" cy="257175"/>
          </a:xfrm>
          <a:prstGeom prst="rect">
            <a:avLst/>
          </a:prstGeom>
          <a:noFill/>
          <a:ln/>
        </p:spPr>
        <p:txBody>
          <a:bodyPr wrap="square" rtlCol="0" anchor="ctr"/>
          <a:lstStyle/>
          <a:p>
            <a:pPr algn="ctr"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使用行動裝置</a:t>
            </a:r>
            <a:endParaRPr lang="en-US" sz="1350" dirty="0"/>
          </a:p>
        </p:txBody>
      </p:sp>
      <p:sp>
        <p:nvSpPr>
          <p:cNvPr id="23" name="Text 19"/>
          <p:cNvSpPr/>
          <p:nvPr/>
        </p:nvSpPr>
        <p:spPr>
          <a:xfrm>
            <a:off x="2628900" y="2328863"/>
            <a:ext cx="1981200" cy="547688"/>
          </a:xfrm>
          <a:prstGeom prst="rect">
            <a:avLst/>
          </a:prstGeom>
          <a:noFill/>
          <a:ln/>
        </p:spPr>
        <p:txBody>
          <a:bodyPr wrap="square" rtlCol="0" anchor="ctr"/>
          <a:lstStyle/>
          <a:p>
            <a:pPr algn="ctr" indent="0" marL="0">
              <a:lnSpc>
                <a:spcPts val="4320"/>
              </a:lnSpc>
              <a:buNone/>
            </a:pPr>
            <a:r>
              <a:rPr lang="en-US" sz="3600" b="1" spc="-72" kern="0" dirty="0">
                <a:solidFill>
                  <a:srgbClr val="000614">
                    <a:alpha val="99000"/>
                  </a:srgbClr>
                </a:solidFill>
                <a:latin typeface="Manrope" pitchFamily="34" charset="0"/>
                <a:ea typeface="Manrope" pitchFamily="34" charset="-122"/>
                <a:cs typeface="Manrope" pitchFamily="34" charset="-120"/>
              </a:rPr>
              <a:t>70%</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962025" y="2252663"/>
            <a:ext cx="2895600" cy="2362200"/>
          </a:xfrm>
          <a:prstGeom prst="rect">
            <a:avLst/>
          </a:prstGeom>
          <a:noFill/>
          <a:ln/>
        </p:spPr>
      </p:sp>
      <p:sp>
        <p:nvSpPr>
          <p:cNvPr id="4" name="Shape 1"/>
          <p:cNvSpPr/>
          <p:nvPr/>
        </p:nvSpPr>
        <p:spPr>
          <a:xfrm>
            <a:off x="8543925" y="185738"/>
            <a:ext cx="309563" cy="109538"/>
          </a:xfrm>
          <a:prstGeom prst="rect">
            <a:avLst/>
          </a:prstGeom>
          <a:noFill/>
          <a:ln/>
        </p:spPr>
      </p:sp>
      <p:sp>
        <p:nvSpPr>
          <p:cNvPr id="5" name="Shape 2"/>
          <p:cNvSpPr/>
          <p:nvPr/>
        </p:nvSpPr>
        <p:spPr>
          <a:xfrm>
            <a:off x="8543925" y="195382"/>
            <a:ext cx="77153" cy="77153"/>
          </a:xfrm>
          <a:prstGeom prst="ellipse">
            <a:avLst/>
          </a:prstGeom>
          <a:solidFill>
            <a:srgbClr val="000000"/>
          </a:solidFill>
          <a:ln/>
        </p:spPr>
      </p:sp>
      <p:sp>
        <p:nvSpPr>
          <p:cNvPr id="6" name="Shape 3"/>
          <p:cNvSpPr/>
          <p:nvPr/>
        </p:nvSpPr>
        <p:spPr>
          <a:xfrm>
            <a:off x="8648700" y="185738"/>
            <a:ext cx="107447" cy="107447"/>
          </a:xfrm>
          <a:prstGeom prst="triangle">
            <a:avLst/>
          </a:prstGeom>
          <a:solidFill>
            <a:srgbClr val="000000"/>
          </a:solidFill>
          <a:ln/>
        </p:spPr>
      </p:sp>
      <p:sp>
        <p:nvSpPr>
          <p:cNvPr id="7" name="Shape 4"/>
          <p:cNvSpPr/>
          <p:nvPr/>
        </p:nvSpPr>
        <p:spPr>
          <a:xfrm>
            <a:off x="8782050" y="198596"/>
            <a:ext cx="70723" cy="70723"/>
          </a:xfrm>
          <a:prstGeom prst="roundRect">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5524500" y="428625"/>
            <a:ext cx="2057763" cy="4288807"/>
          </a:xfrm>
          <a:prstGeom prst="rect">
            <a:avLst/>
          </a:prstGeom>
        </p:spPr>
      </p:pic>
      <p:pic>
        <p:nvPicPr>
          <p:cNvPr id="9" name="Image 1" descr="preencoded.png">    </p:cNvPr>
          <p:cNvPicPr>
            <a:picLocks noChangeAspect="1"/>
          </p:cNvPicPr>
          <p:nvPr/>
        </p:nvPicPr>
        <p:blipFill>
          <a:blip r:embed="rId2"/>
          <a:stretch>
            <a:fillRect/>
          </a:stretch>
        </p:blipFill>
        <p:spPr>
          <a:xfrm>
            <a:off x="5625154" y="530739"/>
            <a:ext cx="1856459" cy="4084578"/>
          </a:xfrm>
          <a:prstGeom prst="rect">
            <a:avLst/>
          </a:prstGeom>
        </p:spPr>
      </p:pic>
      <p:sp>
        <p:nvSpPr>
          <p:cNvPr id="10" name="Text 5"/>
          <p:cNvSpPr/>
          <p:nvPr/>
        </p:nvSpPr>
        <p:spPr>
          <a:xfrm>
            <a:off x="981075" y="1790700"/>
            <a:ext cx="193357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Calendar 日曆</a:t>
            </a:r>
            <a:endParaRPr lang="en-US" sz="1800" dirty="0"/>
          </a:p>
        </p:txBody>
      </p:sp>
      <p:sp>
        <p:nvSpPr>
          <p:cNvPr id="11" name="Text 6"/>
          <p:cNvSpPr/>
          <p:nvPr/>
        </p:nvSpPr>
        <p:spPr>
          <a:xfrm>
            <a:off x="238125" y="171450"/>
            <a:ext cx="1905000" cy="171450"/>
          </a:xfrm>
          <a:prstGeom prst="rect">
            <a:avLst/>
          </a:prstGeom>
          <a:noFill/>
          <a:ln/>
        </p:spPr>
        <p:txBody>
          <a:bodyPr wrap="square" rtlCol="0" anchor="ctr"/>
          <a:lstStyle/>
          <a:p>
            <a:pPr algn="l" indent="0" marL="0">
              <a:lnSpc>
                <a:spcPts val="1350"/>
              </a:lnSpc>
              <a:buNone/>
            </a:pPr>
            <a:r>
              <a:rPr lang="en-US" sz="900" b="1" spc="-13" kern="0" dirty="0">
                <a:solidFill>
                  <a:srgbClr val="000614">
                    <a:alpha val="99000"/>
                  </a:srgbClr>
                </a:solidFill>
                <a:latin typeface="Manrope" pitchFamily="34" charset="0"/>
                <a:ea typeface="Manrope" pitchFamily="34" charset="-122"/>
                <a:cs typeface="Manrope" pitchFamily="34" charset="-120"/>
              </a:rPr>
              <a:t>Full Stack Design</a:t>
            </a:r>
            <a:endParaRPr lang="en-US" sz="900" dirty="0"/>
          </a:p>
        </p:txBody>
      </p:sp>
      <p:sp>
        <p:nvSpPr>
          <p:cNvPr id="12" name="Text 7"/>
          <p:cNvSpPr/>
          <p:nvPr/>
        </p:nvSpPr>
        <p:spPr>
          <a:xfrm>
            <a:off x="962025" y="2252663"/>
            <a:ext cx="3048000" cy="5143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自動加載當天事件，且新增了等待動畫，避免了等待加載時的空白頁面的負面感受。為仁齋的四個空間挑選出了四個不同的顏色，方便用戶判讀。</a:t>
            </a:r>
            <a:endParaRPr lang="en-US" sz="900" dirty="0"/>
          </a:p>
        </p:txBody>
      </p:sp>
      <p:sp>
        <p:nvSpPr>
          <p:cNvPr id="13" name="Text 8"/>
          <p:cNvSpPr/>
          <p:nvPr/>
        </p:nvSpPr>
        <p:spPr>
          <a:xfrm>
            <a:off x="962025" y="3005138"/>
            <a:ext cx="3048000" cy="68580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因為使用的高峰時段橫跨半夜十二點，因此明顯的標誌分隔今天與昨天是非常必要的，分隔線的增加提升了判讀的效率，以及有效降低了事件新增失敗的情形以及挫折感。</a:t>
            </a:r>
            <a:endParaRPr lang="en-US" sz="900" dirty="0"/>
          </a:p>
        </p:txBody>
      </p:sp>
      <p:sp>
        <p:nvSpPr>
          <p:cNvPr id="14" name="Text 9"/>
          <p:cNvSpPr/>
          <p:nvPr/>
        </p:nvSpPr>
        <p:spPr>
          <a:xfrm>
            <a:off x="962025" y="3929063"/>
            <a:ext cx="3048000" cy="68580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將使用深度降為兩層，分別是選擇天數以及檢視事件。只需要點擊事件卡，就會顯示事件詳情，並且系統會自動判讀是否為事件擁有者，從而出現刪除按鈕，極大幅度簡化刪除流程。</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962025" y="2252663"/>
            <a:ext cx="2895600" cy="2362200"/>
          </a:xfrm>
          <a:prstGeom prst="rect">
            <a:avLst/>
          </a:prstGeom>
          <a:noFill/>
          <a:ln/>
        </p:spPr>
      </p:sp>
      <p:sp>
        <p:nvSpPr>
          <p:cNvPr id="4" name="Shape 1"/>
          <p:cNvSpPr/>
          <p:nvPr/>
        </p:nvSpPr>
        <p:spPr>
          <a:xfrm>
            <a:off x="8543925" y="185738"/>
            <a:ext cx="309563" cy="109538"/>
          </a:xfrm>
          <a:prstGeom prst="rect">
            <a:avLst/>
          </a:prstGeom>
          <a:noFill/>
          <a:ln/>
        </p:spPr>
      </p:sp>
      <p:sp>
        <p:nvSpPr>
          <p:cNvPr id="5" name="Shape 2"/>
          <p:cNvSpPr/>
          <p:nvPr/>
        </p:nvSpPr>
        <p:spPr>
          <a:xfrm>
            <a:off x="8543925" y="195382"/>
            <a:ext cx="77153" cy="77153"/>
          </a:xfrm>
          <a:prstGeom prst="ellipse">
            <a:avLst/>
          </a:prstGeom>
          <a:solidFill>
            <a:srgbClr val="000000"/>
          </a:solidFill>
          <a:ln/>
        </p:spPr>
      </p:sp>
      <p:sp>
        <p:nvSpPr>
          <p:cNvPr id="6" name="Shape 3"/>
          <p:cNvSpPr/>
          <p:nvPr/>
        </p:nvSpPr>
        <p:spPr>
          <a:xfrm>
            <a:off x="8648700" y="185738"/>
            <a:ext cx="107447" cy="107447"/>
          </a:xfrm>
          <a:prstGeom prst="triangle">
            <a:avLst/>
          </a:prstGeom>
          <a:solidFill>
            <a:srgbClr val="000000"/>
          </a:solidFill>
          <a:ln/>
        </p:spPr>
      </p:sp>
      <p:sp>
        <p:nvSpPr>
          <p:cNvPr id="7" name="Shape 4"/>
          <p:cNvSpPr/>
          <p:nvPr/>
        </p:nvSpPr>
        <p:spPr>
          <a:xfrm>
            <a:off x="8782050" y="198596"/>
            <a:ext cx="70723" cy="70723"/>
          </a:xfrm>
          <a:prstGeom prst="roundRect">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5524500" y="428625"/>
            <a:ext cx="2057763" cy="4288807"/>
          </a:xfrm>
          <a:prstGeom prst="rect">
            <a:avLst/>
          </a:prstGeom>
        </p:spPr>
      </p:pic>
      <p:pic>
        <p:nvPicPr>
          <p:cNvPr id="9" name="Image 1" descr="preencoded.png">    </p:cNvPr>
          <p:cNvPicPr>
            <a:picLocks noChangeAspect="1"/>
          </p:cNvPicPr>
          <p:nvPr/>
        </p:nvPicPr>
        <p:blipFill>
          <a:blip r:embed="rId2"/>
          <a:stretch>
            <a:fillRect/>
          </a:stretch>
        </p:blipFill>
        <p:spPr>
          <a:xfrm>
            <a:off x="5625154" y="530739"/>
            <a:ext cx="1856454" cy="4084578"/>
          </a:xfrm>
          <a:prstGeom prst="rect">
            <a:avLst/>
          </a:prstGeom>
        </p:spPr>
      </p:pic>
      <p:sp>
        <p:nvSpPr>
          <p:cNvPr id="10" name="Text 5"/>
          <p:cNvSpPr/>
          <p:nvPr/>
        </p:nvSpPr>
        <p:spPr>
          <a:xfrm>
            <a:off x="981075" y="1790700"/>
            <a:ext cx="260032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Apply Form 申請頁面</a:t>
            </a:r>
            <a:endParaRPr lang="en-US" sz="1800" dirty="0"/>
          </a:p>
        </p:txBody>
      </p:sp>
      <p:sp>
        <p:nvSpPr>
          <p:cNvPr id="11" name="Text 6"/>
          <p:cNvSpPr/>
          <p:nvPr/>
        </p:nvSpPr>
        <p:spPr>
          <a:xfrm>
            <a:off x="238125" y="171450"/>
            <a:ext cx="1905000" cy="171450"/>
          </a:xfrm>
          <a:prstGeom prst="rect">
            <a:avLst/>
          </a:prstGeom>
          <a:noFill/>
          <a:ln/>
        </p:spPr>
        <p:txBody>
          <a:bodyPr wrap="square" rtlCol="0" anchor="ctr"/>
          <a:lstStyle/>
          <a:p>
            <a:pPr algn="l" indent="0" marL="0">
              <a:lnSpc>
                <a:spcPts val="1350"/>
              </a:lnSpc>
              <a:buNone/>
            </a:pPr>
            <a:r>
              <a:rPr lang="en-US" sz="900" b="1" spc="-13" kern="0" dirty="0">
                <a:solidFill>
                  <a:srgbClr val="000614">
                    <a:alpha val="99000"/>
                  </a:srgbClr>
                </a:solidFill>
                <a:latin typeface="Manrope" pitchFamily="34" charset="0"/>
                <a:ea typeface="Manrope" pitchFamily="34" charset="-122"/>
                <a:cs typeface="Manrope" pitchFamily="34" charset="-120"/>
              </a:rPr>
              <a:t>Full Stack Design</a:t>
            </a:r>
            <a:endParaRPr lang="en-US" sz="900" dirty="0"/>
          </a:p>
        </p:txBody>
      </p:sp>
      <p:sp>
        <p:nvSpPr>
          <p:cNvPr id="12" name="Text 7"/>
          <p:cNvSpPr/>
          <p:nvPr/>
        </p:nvSpPr>
        <p:spPr>
          <a:xfrm>
            <a:off x="962025" y="2252663"/>
            <a:ext cx="3048000" cy="5143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使用 Consent check box，確保使用者知情且同意空間使用條例，同時也設計了快速的頁面條轉，方面用戶閱讀。</a:t>
            </a:r>
            <a:endParaRPr lang="en-US" sz="900" dirty="0"/>
          </a:p>
        </p:txBody>
      </p:sp>
      <p:sp>
        <p:nvSpPr>
          <p:cNvPr id="13" name="Text 8"/>
          <p:cNvSpPr/>
          <p:nvPr/>
        </p:nvSpPr>
        <p:spPr>
          <a:xfrm>
            <a:off x="962025" y="3005138"/>
            <a:ext cx="3048000" cy="8572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表單元件使用 MUI 設計系統，確保整體視覺風格保持一致。並且使用其日曆套件，確保使用者有流暢的時間選擇體驗。全局共用 SnackBar 與 Diagram，共設計了十數種彈出提示，處理事件加載、等待情形、各種邊界情形的阻擋以及提醒。</a:t>
            </a:r>
            <a:endParaRPr lang="en-US" sz="900" dirty="0"/>
          </a:p>
        </p:txBody>
      </p:sp>
      <p:sp>
        <p:nvSpPr>
          <p:cNvPr id="14" name="Text 9"/>
          <p:cNvSpPr/>
          <p:nvPr/>
        </p:nvSpPr>
        <p:spPr>
          <a:xfrm>
            <a:off x="962025" y="4100513"/>
            <a:ext cx="3048000" cy="5143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加上淡色的小字做提示，避免用戶在臉書或賴等軟體的 in-app 瀏覽器中開啟。單色背景搭配品牌標準色強化主按鈕（確認送出），具備視覺引導力。</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962025" y="2252663"/>
            <a:ext cx="2895600" cy="752475"/>
          </a:xfrm>
          <a:prstGeom prst="rect">
            <a:avLst/>
          </a:prstGeom>
          <a:noFill/>
          <a:ln/>
        </p:spPr>
      </p:sp>
      <p:sp>
        <p:nvSpPr>
          <p:cNvPr id="4" name="Shape 1"/>
          <p:cNvSpPr/>
          <p:nvPr/>
        </p:nvSpPr>
        <p:spPr>
          <a:xfrm>
            <a:off x="8543925" y="185738"/>
            <a:ext cx="309563" cy="109538"/>
          </a:xfrm>
          <a:prstGeom prst="rect">
            <a:avLst/>
          </a:prstGeom>
          <a:noFill/>
          <a:ln/>
        </p:spPr>
      </p:sp>
      <p:sp>
        <p:nvSpPr>
          <p:cNvPr id="5" name="Shape 2"/>
          <p:cNvSpPr/>
          <p:nvPr/>
        </p:nvSpPr>
        <p:spPr>
          <a:xfrm>
            <a:off x="8543925" y="195382"/>
            <a:ext cx="77153" cy="77153"/>
          </a:xfrm>
          <a:prstGeom prst="ellipse">
            <a:avLst/>
          </a:prstGeom>
          <a:solidFill>
            <a:srgbClr val="000000"/>
          </a:solidFill>
          <a:ln/>
        </p:spPr>
      </p:sp>
      <p:sp>
        <p:nvSpPr>
          <p:cNvPr id="6" name="Shape 3"/>
          <p:cNvSpPr/>
          <p:nvPr/>
        </p:nvSpPr>
        <p:spPr>
          <a:xfrm>
            <a:off x="8648700" y="185738"/>
            <a:ext cx="107447" cy="107447"/>
          </a:xfrm>
          <a:prstGeom prst="triangle">
            <a:avLst/>
          </a:prstGeom>
          <a:solidFill>
            <a:srgbClr val="000000"/>
          </a:solidFill>
          <a:ln/>
        </p:spPr>
      </p:sp>
      <p:sp>
        <p:nvSpPr>
          <p:cNvPr id="7" name="Shape 4"/>
          <p:cNvSpPr/>
          <p:nvPr/>
        </p:nvSpPr>
        <p:spPr>
          <a:xfrm>
            <a:off x="8782050" y="198596"/>
            <a:ext cx="70723" cy="70723"/>
          </a:xfrm>
          <a:prstGeom prst="roundRect">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5524500" y="428625"/>
            <a:ext cx="2057763" cy="4288807"/>
          </a:xfrm>
          <a:prstGeom prst="rect">
            <a:avLst/>
          </a:prstGeom>
        </p:spPr>
      </p:pic>
      <p:pic>
        <p:nvPicPr>
          <p:cNvPr id="9" name="Image 1" descr="preencoded.png">    </p:cNvPr>
          <p:cNvPicPr>
            <a:picLocks noChangeAspect="1"/>
          </p:cNvPicPr>
          <p:nvPr/>
        </p:nvPicPr>
        <p:blipFill>
          <a:blip r:embed="rId2"/>
          <a:stretch>
            <a:fillRect/>
          </a:stretch>
        </p:blipFill>
        <p:spPr>
          <a:xfrm>
            <a:off x="5625154" y="530739"/>
            <a:ext cx="1856454" cy="4084578"/>
          </a:xfrm>
          <a:prstGeom prst="rect">
            <a:avLst/>
          </a:prstGeom>
        </p:spPr>
      </p:pic>
      <p:sp>
        <p:nvSpPr>
          <p:cNvPr id="10" name="Text 5"/>
          <p:cNvSpPr/>
          <p:nvPr/>
        </p:nvSpPr>
        <p:spPr>
          <a:xfrm>
            <a:off x="981075" y="1790700"/>
            <a:ext cx="1885950"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Rule 借用條例</a:t>
            </a:r>
            <a:endParaRPr lang="en-US" sz="1800" dirty="0"/>
          </a:p>
        </p:txBody>
      </p:sp>
      <p:sp>
        <p:nvSpPr>
          <p:cNvPr id="11" name="Text 6"/>
          <p:cNvSpPr/>
          <p:nvPr/>
        </p:nvSpPr>
        <p:spPr>
          <a:xfrm>
            <a:off x="238125" y="171450"/>
            <a:ext cx="1905000" cy="171450"/>
          </a:xfrm>
          <a:prstGeom prst="rect">
            <a:avLst/>
          </a:prstGeom>
          <a:noFill/>
          <a:ln/>
        </p:spPr>
        <p:txBody>
          <a:bodyPr wrap="square" rtlCol="0" anchor="ctr"/>
          <a:lstStyle/>
          <a:p>
            <a:pPr algn="l" indent="0" marL="0">
              <a:lnSpc>
                <a:spcPts val="1350"/>
              </a:lnSpc>
              <a:buNone/>
            </a:pPr>
            <a:r>
              <a:rPr lang="en-US" sz="900" b="1" spc="-13" kern="0" dirty="0">
                <a:solidFill>
                  <a:srgbClr val="000614">
                    <a:alpha val="99000"/>
                  </a:srgbClr>
                </a:solidFill>
                <a:latin typeface="Manrope" pitchFamily="34" charset="0"/>
                <a:ea typeface="Manrope" pitchFamily="34" charset="-122"/>
                <a:cs typeface="Manrope" pitchFamily="34" charset="-120"/>
              </a:rPr>
              <a:t>Full Stack Design</a:t>
            </a:r>
            <a:endParaRPr lang="en-US" sz="900" dirty="0"/>
          </a:p>
        </p:txBody>
      </p:sp>
      <p:sp>
        <p:nvSpPr>
          <p:cNvPr id="12" name="Text 7"/>
          <p:cNvSpPr/>
          <p:nvPr/>
        </p:nvSpPr>
        <p:spPr>
          <a:xfrm>
            <a:off x="962025" y="2252663"/>
            <a:ext cx="3048000" cy="34290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以卡片式元件排版，便於閱讀與快速瀏覽。模組化的程式設計，方便日後維護快速新增和修改。</a:t>
            </a:r>
            <a:endParaRPr lang="en-US" sz="900" dirty="0"/>
          </a:p>
        </p:txBody>
      </p:sp>
      <p:sp>
        <p:nvSpPr>
          <p:cNvPr id="13" name="Text 8"/>
          <p:cNvSpPr/>
          <p:nvPr/>
        </p:nvSpPr>
        <p:spPr>
          <a:xfrm>
            <a:off x="962025" y="2833688"/>
            <a:ext cx="3048000"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他很好看。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800100" y="1114425"/>
            <a:ext cx="7543800" cy="3414713"/>
          </a:xfrm>
          <a:prstGeom prst="rect">
            <a:avLst/>
          </a:prstGeom>
        </p:spPr>
      </p:pic>
      <p:sp>
        <p:nvSpPr>
          <p:cNvPr id="4" name="Text 0"/>
          <p:cNvSpPr/>
          <p:nvPr/>
        </p:nvSpPr>
        <p:spPr>
          <a:xfrm>
            <a:off x="800100" y="609600"/>
            <a:ext cx="2257425"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Product Screens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600" y="2052637"/>
            <a:ext cx="3238500" cy="1033462"/>
          </a:xfrm>
          <a:prstGeom prst="rect">
            <a:avLst/>
          </a:prstGeom>
          <a:noFill/>
          <a:ln/>
        </p:spPr>
      </p:sp>
      <p:pic>
        <p:nvPicPr>
          <p:cNvPr id="3" name="Image 0" descr="preencoded.png">    </p:cNvPr>
          <p:cNvPicPr>
            <a:picLocks noChangeAspect="1"/>
          </p:cNvPicPr>
          <p:nvPr/>
        </p:nvPicPr>
        <p:blipFill>
          <a:blip r:embed="rId1"/>
          <a:stretch>
            <a:fillRect/>
          </a:stretch>
        </p:blipFill>
        <p:spPr>
          <a:xfrm>
            <a:off x="4257675" y="609600"/>
            <a:ext cx="4886325" cy="3924300"/>
          </a:xfrm>
          <a:prstGeom prst="rect">
            <a:avLst/>
          </a:prstGeom>
        </p:spPr>
      </p:pic>
      <p:sp>
        <p:nvSpPr>
          <p:cNvPr id="4" name="Text 1"/>
          <p:cNvSpPr/>
          <p:nvPr/>
        </p:nvSpPr>
        <p:spPr>
          <a:xfrm>
            <a:off x="609600" y="2052637"/>
            <a:ext cx="3695700" cy="276225"/>
          </a:xfrm>
          <a:prstGeom prst="rect">
            <a:avLst/>
          </a:prstGeom>
          <a:noFill/>
          <a:ln/>
        </p:spPr>
        <p:txBody>
          <a:bodyPr wrap="square" rtlCol="0" anchor="ctr"/>
          <a:lstStyle/>
          <a:p>
            <a:pPr algn="l" indent="0" marL="0">
              <a:lnSpc>
                <a:spcPts val="2160"/>
              </a:lnSpc>
              <a:buNone/>
            </a:pPr>
            <a:r>
              <a:rPr lang="en-US" sz="1800" b="1" spc="-36" kern="0" dirty="0">
                <a:solidFill>
                  <a:srgbClr val="E26E1F">
                    <a:alpha val="99000"/>
                  </a:srgbClr>
                </a:solidFill>
                <a:latin typeface="Manrope" pitchFamily="34" charset="0"/>
                <a:ea typeface="Manrope" pitchFamily="34" charset="-122"/>
                <a:cs typeface="Manrope" pitchFamily="34" charset="-120"/>
              </a:rPr>
              <a:t>RWD: 電腦版介面</a:t>
            </a:r>
            <a:endParaRPr lang="en-US" sz="1800" dirty="0"/>
          </a:p>
        </p:txBody>
      </p:sp>
      <p:sp>
        <p:nvSpPr>
          <p:cNvPr id="5" name="Text 2"/>
          <p:cNvSpPr/>
          <p:nvPr/>
        </p:nvSpPr>
        <p:spPr>
          <a:xfrm>
            <a:off x="609600" y="2443163"/>
            <a:ext cx="3695700" cy="642938"/>
          </a:xfrm>
          <a:prstGeom prst="rect">
            <a:avLst/>
          </a:prstGeom>
          <a:noFill/>
          <a:ln/>
        </p:spPr>
        <p:txBody>
          <a:bodyPr wrap="square" rtlCol="0" anchor="ctr"/>
          <a:lstStyle/>
          <a:p>
            <a:pPr algn="l" indent="0" marL="0">
              <a:lnSpc>
                <a:spcPts val="1688"/>
              </a:lnSpc>
              <a:buNone/>
            </a:pPr>
            <a:r>
              <a:rPr lang="en-US" sz="1125" spc="-11" kern="0" dirty="0">
                <a:solidFill>
                  <a:srgbClr val="000000">
                    <a:alpha val="99000"/>
                  </a:srgbClr>
                </a:solidFill>
                <a:latin typeface="Inter" pitchFamily="34" charset="0"/>
                <a:ea typeface="Inter" pitchFamily="34" charset="-122"/>
                <a:cs typeface="Inter" pitchFamily="34" charset="-120"/>
              </a:rPr>
              <a:t>經過 Google Analytics 的持續追蹤與分析</a:t>
            </a:r>
            <a:endParaRPr lang="en-US" sz="1125" dirty="0"/>
          </a:p>
          <a:p>
            <a:pPr algn="l" indent="0" marL="0">
              <a:lnSpc>
                <a:spcPts val="1688"/>
              </a:lnSpc>
              <a:buNone/>
            </a:pPr>
            <a:r>
              <a:rPr lang="en-US" sz="1125" spc="-11" kern="0" dirty="0">
                <a:solidFill>
                  <a:srgbClr val="000000">
                    <a:alpha val="99000"/>
                  </a:srgbClr>
                </a:solidFill>
                <a:latin typeface="Inter" pitchFamily="34" charset="0"/>
                <a:ea typeface="Inter" pitchFamily="34" charset="-122"/>
                <a:cs typeface="Inter" pitchFamily="34" charset="-120"/>
              </a:rPr>
              <a:t>雖然說有 70.3% 的用戶為行動裝置</a:t>
            </a:r>
            <a:endParaRPr lang="en-US" sz="1125" dirty="0"/>
          </a:p>
          <a:p>
            <a:pPr algn="l" indent="0" marL="0">
              <a:lnSpc>
                <a:spcPts val="1688"/>
              </a:lnSpc>
              <a:buNone/>
            </a:pPr>
            <a:r>
              <a:rPr lang="en-US" sz="1125" spc="-11" kern="0" dirty="0">
                <a:solidFill>
                  <a:srgbClr val="000000">
                    <a:alpha val="99000"/>
                  </a:srgbClr>
                </a:solidFill>
                <a:latin typeface="Inter" pitchFamily="34" charset="0"/>
                <a:ea typeface="Inter" pitchFamily="34" charset="-122"/>
                <a:cs typeface="Inter" pitchFamily="34" charset="-120"/>
              </a:rPr>
              <a:t>但我還是為電腦版做了響應式的網頁設計</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0" y="4762500"/>
            <a:ext cx="9144000" cy="381000"/>
          </a:xfrm>
          <a:prstGeom prst="rect">
            <a:avLst/>
          </a:prstGeom>
          <a:solidFill>
            <a:srgbClr val="000614"/>
          </a:solid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86" y="4848225"/>
            <a:ext cx="206935" cy="206935"/>
          </a:xfrm>
          <a:prstGeom prst="triangle">
            <a:avLst/>
          </a:prstGeom>
          <a:solidFill>
            <a:srgbClr val="FAFBFF"/>
          </a:solidFill>
          <a:ln/>
        </p:spPr>
      </p:sp>
      <p:sp>
        <p:nvSpPr>
          <p:cNvPr id="7" name="Shape 4"/>
          <p:cNvSpPr/>
          <p:nvPr/>
        </p:nvSpPr>
        <p:spPr>
          <a:xfrm>
            <a:off x="663894" y="4872990"/>
            <a:ext cx="136208" cy="136208"/>
          </a:xfrm>
          <a:prstGeom prst="roundRect">
            <a:avLst/>
          </a:prstGeom>
          <a:solidFill>
            <a:srgbClr val="FAFBFF"/>
          </a:solidFill>
          <a:ln/>
        </p:spPr>
      </p:sp>
      <p:sp>
        <p:nvSpPr>
          <p:cNvPr id="8" name="Text 5"/>
          <p:cNvSpPr/>
          <p:nvPr/>
        </p:nvSpPr>
        <p:spPr>
          <a:xfrm>
            <a:off x="800100" y="609600"/>
            <a:ext cx="1624013" cy="285750"/>
          </a:xfrm>
          <a:prstGeom prst="rect">
            <a:avLst/>
          </a:prstGeom>
          <a:noFill/>
          <a:ln/>
        </p:spPr>
        <p:txBody>
          <a:bodyPr wrap="square" rtlCol="0" anchor="ctr"/>
          <a:lstStyle/>
          <a:p>
            <a:pPr algn="l" indent="0" marL="0">
              <a:lnSpc>
                <a:spcPts val="2250"/>
              </a:lnSpc>
              <a:buNone/>
            </a:pPr>
            <a:r>
              <a:rPr lang="en-US" sz="1800" b="1" spc="-27" kern="0" dirty="0">
                <a:solidFill>
                  <a:srgbClr val="E26E1F">
                    <a:alpha val="99000"/>
                  </a:srgbClr>
                </a:solidFill>
                <a:latin typeface="Manrope" pitchFamily="34" charset="0"/>
                <a:ea typeface="Manrope" pitchFamily="34" charset="-122"/>
                <a:cs typeface="Manrope" pitchFamily="34" charset="-120"/>
              </a:rPr>
              <a:t>Teck Stack</a:t>
            </a:r>
            <a:endParaRPr lang="en-US" sz="1800" dirty="0"/>
          </a:p>
        </p:txBody>
      </p:sp>
      <p:sp>
        <p:nvSpPr>
          <p:cNvPr id="9" name="Text 6"/>
          <p:cNvSpPr/>
          <p:nvPr/>
        </p:nvSpPr>
        <p:spPr>
          <a:xfrm>
            <a:off x="800100" y="116205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01 前端
</a:t>
            </a:r>
            <a:endParaRPr lang="en-US" sz="1350" dirty="0"/>
          </a:p>
        </p:txBody>
      </p:sp>
      <p:sp>
        <p:nvSpPr>
          <p:cNvPr id="10" name="Text 7"/>
          <p:cNvSpPr/>
          <p:nvPr/>
        </p:nvSpPr>
        <p:spPr>
          <a:xfrm>
            <a:off x="800100" y="154305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02 伺服器</a:t>
            </a:r>
            <a:endParaRPr lang="en-US" sz="1350" dirty="0"/>
          </a:p>
        </p:txBody>
      </p:sp>
      <p:sp>
        <p:nvSpPr>
          <p:cNvPr id="11" name="Text 8"/>
          <p:cNvSpPr/>
          <p:nvPr/>
        </p:nvSpPr>
        <p:spPr>
          <a:xfrm>
            <a:off x="2081212" y="1924050"/>
            <a:ext cx="602456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Firebase Functions + Restful API + Google Calendar API + JWT Auth</a:t>
            </a:r>
            <a:endParaRPr lang="en-US" sz="1350" dirty="0"/>
          </a:p>
        </p:txBody>
      </p:sp>
      <p:sp>
        <p:nvSpPr>
          <p:cNvPr id="12" name="Text 9"/>
          <p:cNvSpPr/>
          <p:nvPr/>
        </p:nvSpPr>
        <p:spPr>
          <a:xfrm>
            <a:off x="2081212" y="1543050"/>
            <a:ext cx="602456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Firebase hosting + GCP</a:t>
            </a:r>
            <a:endParaRPr lang="en-US" sz="1350" dirty="0"/>
          </a:p>
        </p:txBody>
      </p:sp>
      <p:sp>
        <p:nvSpPr>
          <p:cNvPr id="13" name="Text 10"/>
          <p:cNvSpPr/>
          <p:nvPr/>
        </p:nvSpPr>
        <p:spPr>
          <a:xfrm>
            <a:off x="2081212" y="1162050"/>
            <a:ext cx="602456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Vite + React + MUI + Tailwind CSS</a:t>
            </a:r>
            <a:endParaRPr lang="en-US" sz="1350" dirty="0"/>
          </a:p>
        </p:txBody>
      </p:sp>
      <p:sp>
        <p:nvSpPr>
          <p:cNvPr id="14" name="Text 11"/>
          <p:cNvSpPr/>
          <p:nvPr/>
        </p:nvSpPr>
        <p:spPr>
          <a:xfrm>
            <a:off x="800100" y="4362450"/>
            <a:ext cx="5181447"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簡單來說就是，舊系統根本就沒有做任何設計...</a:t>
            </a:r>
            <a:endParaRPr lang="en-US" sz="900" dirty="0"/>
          </a:p>
        </p:txBody>
      </p:sp>
      <p:sp>
        <p:nvSpPr>
          <p:cNvPr id="15" name="Text 12"/>
          <p:cNvSpPr/>
          <p:nvPr/>
        </p:nvSpPr>
        <p:spPr>
          <a:xfrm>
            <a:off x="800100" y="192405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03 後端
</a:t>
            </a:r>
            <a:endParaRPr lang="en-US" sz="1350" dirty="0"/>
          </a:p>
        </p:txBody>
      </p:sp>
      <p:sp>
        <p:nvSpPr>
          <p:cNvPr id="16" name="Text 13"/>
          <p:cNvSpPr/>
          <p:nvPr/>
        </p:nvSpPr>
        <p:spPr>
          <a:xfrm>
            <a:off x="2081212" y="2305050"/>
            <a:ext cx="602456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Google Analytics + Microsoft Clarity</a:t>
            </a:r>
            <a:endParaRPr lang="en-US" sz="1350" dirty="0"/>
          </a:p>
        </p:txBody>
      </p:sp>
      <p:sp>
        <p:nvSpPr>
          <p:cNvPr id="17" name="Text 14"/>
          <p:cNvSpPr/>
          <p:nvPr/>
        </p:nvSpPr>
        <p:spPr>
          <a:xfrm>
            <a:off x="800100" y="2305050"/>
            <a:ext cx="1738313" cy="257175"/>
          </a:xfrm>
          <a:prstGeom prst="rect">
            <a:avLst/>
          </a:prstGeom>
          <a:noFill/>
          <a:ln/>
        </p:spPr>
        <p:txBody>
          <a:bodyPr wrap="square" rtlCol="0" anchor="ctr"/>
          <a:lstStyle/>
          <a:p>
            <a:pPr algn="l" indent="0" marL="0">
              <a:lnSpc>
                <a:spcPts val="2025"/>
              </a:lnSpc>
              <a:buNone/>
            </a:pPr>
            <a:r>
              <a:rPr lang="en-US" sz="1350" spc="-20" kern="0" dirty="0">
                <a:solidFill>
                  <a:srgbClr val="000614">
                    <a:alpha val="99000"/>
                  </a:srgbClr>
                </a:solidFill>
                <a:latin typeface="Manrope" pitchFamily="34" charset="0"/>
                <a:ea typeface="Manrope" pitchFamily="34" charset="-122"/>
                <a:cs typeface="Manrope" pitchFamily="34" charset="-120"/>
              </a:rPr>
              <a:t>04 分析</a:t>
            </a:r>
            <a:endParaRPr lang="en-US" sz="1350" dirty="0"/>
          </a:p>
        </p:txBody>
      </p:sp>
      <p:sp>
        <p:nvSpPr>
          <p:cNvPr id="18" name="Text 15"/>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1562100" y="1857375"/>
            <a:ext cx="6019800" cy="1428750"/>
          </a:xfrm>
          <a:prstGeom prst="rect">
            <a:avLst/>
          </a:prstGeom>
          <a:noFill/>
          <a:ln/>
        </p:spPr>
      </p:sp>
      <p:sp>
        <p:nvSpPr>
          <p:cNvPr id="4" name="Shape 1"/>
          <p:cNvSpPr/>
          <p:nvPr/>
        </p:nvSpPr>
        <p:spPr>
          <a:xfrm>
            <a:off x="304800" y="4848225"/>
            <a:ext cx="8534400" cy="206935"/>
          </a:xfrm>
          <a:prstGeom prst="rect">
            <a:avLst/>
          </a:prstGeom>
          <a:noFill/>
          <a:ln/>
        </p:spPr>
      </p:sp>
      <p:sp>
        <p:nvSpPr>
          <p:cNvPr id="5" name="Shape 2"/>
          <p:cNvSpPr/>
          <p:nvPr/>
        </p:nvSpPr>
        <p:spPr>
          <a:xfrm>
            <a:off x="304800" y="4866799"/>
            <a:ext cx="148590" cy="148590"/>
          </a:xfrm>
          <a:prstGeom prst="ellipse">
            <a:avLst/>
          </a:prstGeom>
          <a:solidFill>
            <a:srgbClr val="FAFBFF"/>
          </a:solidFill>
          <a:ln/>
        </p:spPr>
      </p:sp>
      <p:sp>
        <p:nvSpPr>
          <p:cNvPr id="6" name="Shape 3"/>
          <p:cNvSpPr/>
          <p:nvPr/>
        </p:nvSpPr>
        <p:spPr>
          <a:xfrm>
            <a:off x="453386" y="4848225"/>
            <a:ext cx="206935" cy="206935"/>
          </a:xfrm>
          <a:prstGeom prst="triangle">
            <a:avLst/>
          </a:prstGeom>
          <a:solidFill>
            <a:srgbClr val="FAFBFF"/>
          </a:solidFill>
          <a:ln/>
        </p:spPr>
      </p:sp>
      <p:sp>
        <p:nvSpPr>
          <p:cNvPr id="7" name="Shape 4"/>
          <p:cNvSpPr/>
          <p:nvPr/>
        </p:nvSpPr>
        <p:spPr>
          <a:xfrm>
            <a:off x="663894" y="4872990"/>
            <a:ext cx="136208" cy="136208"/>
          </a:xfrm>
          <a:prstGeom prst="roundRect">
            <a:avLst/>
          </a:prstGeom>
          <a:solidFill>
            <a:srgbClr val="FAFBFF"/>
          </a:solidFill>
          <a:ln/>
        </p:spPr>
      </p:sp>
      <p:sp>
        <p:nvSpPr>
          <p:cNvPr id="8" name="Shape 5"/>
          <p:cNvSpPr/>
          <p:nvPr/>
        </p:nvSpPr>
        <p:spPr>
          <a:xfrm>
            <a:off x="1819275" y="1857375"/>
            <a:ext cx="5762625" cy="1428750"/>
          </a:xfrm>
          <a:prstGeom prst="rect">
            <a:avLst/>
          </a:prstGeom>
          <a:noFill/>
          <a:ln/>
        </p:spPr>
      </p:sp>
      <p:pic>
        <p:nvPicPr>
          <p:cNvPr id="9" name="Image 0" descr="preencoded.png">    </p:cNvPr>
          <p:cNvPicPr>
            <a:picLocks noChangeAspect="1"/>
          </p:cNvPicPr>
          <p:nvPr/>
        </p:nvPicPr>
        <p:blipFill>
          <a:blip r:embed="rId1"/>
          <a:stretch>
            <a:fillRect/>
          </a:stretch>
        </p:blipFill>
        <p:spPr>
          <a:xfrm>
            <a:off x="0" y="4762500"/>
            <a:ext cx="9144000" cy="381000"/>
          </a:xfrm>
          <a:prstGeom prst="rect">
            <a:avLst/>
          </a:prstGeom>
        </p:spPr>
      </p:pic>
      <p:sp>
        <p:nvSpPr>
          <p:cNvPr id="10" name="Text 6"/>
          <p:cNvSpPr/>
          <p:nvPr/>
        </p:nvSpPr>
        <p:spPr>
          <a:xfrm>
            <a:off x="8281987" y="4865968"/>
            <a:ext cx="1014413" cy="171450"/>
          </a:xfrm>
          <a:prstGeom prst="rect">
            <a:avLst/>
          </a:prstGeom>
          <a:noFill/>
          <a:ln/>
        </p:spPr>
        <p:txBody>
          <a:bodyPr wrap="square" rtlCol="0" anchor="ctr"/>
          <a:lstStyle/>
          <a:p>
            <a:pPr algn="r" indent="0" marL="0">
              <a:lnSpc>
                <a:spcPts val="1350"/>
              </a:lnSpc>
              <a:buNone/>
            </a:pPr>
            <a:r>
              <a:rPr lang="en-US" sz="900" spc="-13" kern="0" dirty="0">
                <a:solidFill>
                  <a:srgbClr val="FAFBFF">
                    <a:alpha val="99000"/>
                  </a:srgbClr>
                </a:solidFill>
                <a:latin typeface="Manrope" pitchFamily="34" charset="0"/>
                <a:ea typeface="Manrope" pitchFamily="34" charset="-122"/>
                <a:cs typeface="Manrope" pitchFamily="34" charset="-120"/>
              </a:rPr>
              <a:t>tzai-space</a:t>
            </a:r>
            <a:endParaRPr lang="en-US" sz="900" dirty="0"/>
          </a:p>
        </p:txBody>
      </p:sp>
      <p:sp>
        <p:nvSpPr>
          <p:cNvPr id="11" name="Text 7"/>
          <p:cNvSpPr/>
          <p:nvPr/>
        </p:nvSpPr>
        <p:spPr>
          <a:xfrm>
            <a:off x="1562100" y="1857375"/>
            <a:ext cx="666750" cy="547688"/>
          </a:xfrm>
          <a:prstGeom prst="rect">
            <a:avLst/>
          </a:prstGeom>
          <a:noFill/>
          <a:ln/>
        </p:spPr>
        <p:txBody>
          <a:bodyPr wrap="square" rtlCol="0" anchor="ctr"/>
          <a:lstStyle/>
          <a:p>
            <a:pPr algn="l" indent="0" marL="0">
              <a:lnSpc>
                <a:spcPts val="4320"/>
              </a:lnSpc>
              <a:buNone/>
            </a:pPr>
            <a:r>
              <a:rPr lang="en-US" sz="3600" b="1" spc="-72" kern="0" dirty="0">
                <a:solidFill>
                  <a:srgbClr val="E26E1F">
                    <a:alpha val="99000"/>
                  </a:srgbClr>
                </a:solidFill>
                <a:latin typeface="Manrope" pitchFamily="34" charset="0"/>
                <a:ea typeface="Manrope" pitchFamily="34" charset="-122"/>
                <a:cs typeface="Manrope" pitchFamily="34" charset="-120"/>
              </a:rPr>
              <a:t>“</a:t>
            </a:r>
            <a:endParaRPr lang="en-US" sz="3600" dirty="0"/>
          </a:p>
        </p:txBody>
      </p:sp>
      <p:sp>
        <p:nvSpPr>
          <p:cNvPr id="12" name="Text 8"/>
          <p:cNvSpPr/>
          <p:nvPr/>
        </p:nvSpPr>
        <p:spPr>
          <a:xfrm>
            <a:off x="1819275" y="2162175"/>
            <a:ext cx="6219825" cy="495300"/>
          </a:xfrm>
          <a:prstGeom prst="rect">
            <a:avLst/>
          </a:prstGeom>
          <a:noFill/>
          <a:ln/>
        </p:spPr>
        <p:txBody>
          <a:bodyPr wrap="square" rtlCol="0" anchor="ctr"/>
          <a:lstStyle/>
          <a:p>
            <a:pPr algn="l" indent="0" marL="0">
              <a:lnSpc>
                <a:spcPts val="1950"/>
              </a:lnSpc>
              <a:buNone/>
            </a:pPr>
            <a:r>
              <a:rPr lang="en-US" sz="1500" b="1" spc="-22" kern="0" dirty="0">
                <a:solidFill>
                  <a:srgbClr val="000614">
                    <a:alpha val="99000"/>
                  </a:srgbClr>
                </a:solidFill>
                <a:latin typeface="Manrope" pitchFamily="34" charset="0"/>
                <a:ea typeface="Manrope" pitchFamily="34" charset="-122"/>
                <a:cs typeface="Manrope" pitchFamily="34" charset="-120"/>
              </a:rPr>
              <a:t>設計不止是乾淨的排版，所謂設計，是一種人與社會的對話，是落腳於生活的去看見需求，以及扎根於社會的解決問題。</a:t>
            </a:r>
            <a:endParaRPr lang="en-US" sz="1500" dirty="0"/>
          </a:p>
        </p:txBody>
      </p:sp>
      <p:sp>
        <p:nvSpPr>
          <p:cNvPr id="13" name="Text 9"/>
          <p:cNvSpPr/>
          <p:nvPr/>
        </p:nvSpPr>
        <p:spPr>
          <a:xfrm>
            <a:off x="1819275" y="2809875"/>
            <a:ext cx="6219825" cy="171450"/>
          </a:xfrm>
          <a:prstGeom prst="rect">
            <a:avLst/>
          </a:prstGeom>
          <a:noFill/>
          <a:ln/>
        </p:spPr>
        <p:txBody>
          <a:bodyPr wrap="square" rtlCol="0" anchor="ctr"/>
          <a:lstStyle/>
          <a:p>
            <a:pPr algn="l"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 Guan yu Chen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F"/>
        </a:solidFill>
      </p:bgPr>
    </p:bg>
    <p:spTree>
      <p:nvGrpSpPr>
        <p:cNvPr id="1" name=""/>
        <p:cNvGrpSpPr/>
        <p:nvPr/>
      </p:nvGrpSpPr>
      <p:grpSpPr>
        <a:xfrm>
          <a:off x="0" y="0"/>
          <a:ext cx="0" cy="0"/>
          <a:chOff x="0" y="0"/>
          <a:chExt cx="0" cy="0"/>
        </a:xfrm>
      </p:grpSpPr>
      <p:sp>
        <p:nvSpPr>
          <p:cNvPr id="3" name="Shape 0"/>
          <p:cNvSpPr/>
          <p:nvPr/>
        </p:nvSpPr>
        <p:spPr>
          <a:xfrm>
            <a:off x="4291013" y="2811770"/>
            <a:ext cx="167566" cy="167566"/>
          </a:xfrm>
          <a:prstGeom prst="ellipse">
            <a:avLst/>
          </a:prstGeom>
          <a:solidFill>
            <a:srgbClr val="E26E1F"/>
          </a:solidFill>
          <a:ln/>
        </p:spPr>
      </p:sp>
      <p:sp>
        <p:nvSpPr>
          <p:cNvPr id="4" name="Shape 1"/>
          <p:cNvSpPr/>
          <p:nvPr/>
        </p:nvSpPr>
        <p:spPr>
          <a:xfrm>
            <a:off x="4458574" y="2790825"/>
            <a:ext cx="233362" cy="233362"/>
          </a:xfrm>
          <a:prstGeom prst="triangle">
            <a:avLst/>
          </a:prstGeom>
          <a:solidFill>
            <a:srgbClr val="2569ED"/>
          </a:solidFill>
          <a:ln/>
        </p:spPr>
      </p:sp>
      <p:sp>
        <p:nvSpPr>
          <p:cNvPr id="5" name="Shape 2"/>
          <p:cNvSpPr/>
          <p:nvPr/>
        </p:nvSpPr>
        <p:spPr>
          <a:xfrm>
            <a:off x="4695965" y="2818752"/>
            <a:ext cx="153603" cy="153603"/>
          </a:xfrm>
          <a:prstGeom prst="roundRect">
            <a:avLst/>
          </a:prstGeom>
          <a:solidFill>
            <a:srgbClr val="EDB842"/>
          </a:solidFill>
          <a:ln/>
        </p:spPr>
      </p:sp>
      <p:sp>
        <p:nvSpPr>
          <p:cNvPr id="6" name="Text 3"/>
          <p:cNvSpPr/>
          <p:nvPr/>
        </p:nvSpPr>
        <p:spPr>
          <a:xfrm>
            <a:off x="804863" y="4262438"/>
            <a:ext cx="7996237" cy="228600"/>
          </a:xfrm>
          <a:prstGeom prst="rect">
            <a:avLst/>
          </a:prstGeom>
          <a:noFill/>
          <a:ln/>
        </p:spPr>
        <p:txBody>
          <a:bodyPr wrap="square" rtlCol="0" anchor="ctr"/>
          <a:lstStyle/>
          <a:p>
            <a:pPr algn="ctr" indent="0" marL="0">
              <a:lnSpc>
                <a:spcPts val="1800"/>
              </a:lnSpc>
              <a:buNone/>
            </a:pPr>
            <a:r>
              <a:rPr lang="en-US" sz="1200" spc="-18" kern="0" dirty="0">
                <a:solidFill>
                  <a:srgbClr val="000614">
                    <a:alpha val="99000"/>
                  </a:srgbClr>
                </a:solidFill>
                <a:latin typeface="Manrope" pitchFamily="34" charset="0"/>
                <a:ea typeface="Manrope" pitchFamily="34" charset="-122"/>
                <a:cs typeface="Manrope" pitchFamily="34" charset="-120"/>
              </a:rPr>
              <a:t>仁齋空間借用系統 </a:t>
            </a:r>
            <a:pPr algn="ctr" indent="0" marL="0">
              <a:lnSpc>
                <a:spcPts val="1800"/>
              </a:lnSpc>
              <a:buNone/>
            </a:pPr>
            <a:r>
              <a:rPr lang="en-US" sz="1200" b="1" spc="-18" kern="0" dirty="0">
                <a:solidFill>
                  <a:srgbClr val="000614">
                    <a:alpha val="99000"/>
                  </a:srgbClr>
                </a:solidFill>
                <a:latin typeface="Manrope" pitchFamily="34" charset="0"/>
                <a:ea typeface="Manrope" pitchFamily="34" charset="-122"/>
                <a:cs typeface="Manrope" pitchFamily="34" charset="-120"/>
              </a:rPr>
              <a:t>Re-Design</a:t>
            </a:r>
            <a:endParaRPr lang="en-US" sz="1200" dirty="0"/>
          </a:p>
        </p:txBody>
      </p:sp>
      <p:sp>
        <p:nvSpPr>
          <p:cNvPr id="7" name="Text 4"/>
          <p:cNvSpPr/>
          <p:nvPr/>
        </p:nvSpPr>
        <p:spPr>
          <a:xfrm>
            <a:off x="3671888" y="2124075"/>
            <a:ext cx="2262187" cy="547688"/>
          </a:xfrm>
          <a:prstGeom prst="rect">
            <a:avLst/>
          </a:prstGeom>
          <a:noFill/>
          <a:ln/>
        </p:spPr>
        <p:txBody>
          <a:bodyPr wrap="square" rtlCol="0" anchor="ctr"/>
          <a:lstStyle/>
          <a:p>
            <a:pPr algn="ctr" indent="0" marL="0">
              <a:lnSpc>
                <a:spcPts val="4320"/>
              </a:lnSpc>
              <a:buNone/>
            </a:pPr>
            <a:r>
              <a:rPr lang="en-US" sz="3600" b="1" spc="-72" kern="0" dirty="0">
                <a:solidFill>
                  <a:srgbClr val="000614">
                    <a:alpha val="99000"/>
                  </a:srgbClr>
                </a:solidFill>
                <a:latin typeface="Manrope" pitchFamily="34" charset="0"/>
                <a:ea typeface="Manrope" pitchFamily="34" charset="-122"/>
                <a:cs typeface="Manrope" pitchFamily="34" charset="-120"/>
              </a:rPr>
              <a:t>感謝聆聽</a:t>
            </a:r>
            <a:endParaRPr lang="en-US" sz="3600" dirty="0"/>
          </a:p>
        </p:txBody>
      </p:sp>
      <p:sp>
        <p:nvSpPr>
          <p:cNvPr id="8" name="Text 5"/>
          <p:cNvSpPr/>
          <p:nvPr/>
        </p:nvSpPr>
        <p:spPr>
          <a:xfrm>
            <a:off x="3467100" y="4595813"/>
            <a:ext cx="2667000" cy="171450"/>
          </a:xfrm>
          <a:prstGeom prst="rect">
            <a:avLst/>
          </a:prstGeom>
          <a:noFill/>
          <a:ln/>
        </p:spPr>
        <p:txBody>
          <a:bodyPr wrap="square" rtlCol="0" anchor="ctr"/>
          <a:lstStyle/>
          <a:p>
            <a:pPr algn="ctr" indent="0" marL="0">
              <a:lnSpc>
                <a:spcPts val="1350"/>
              </a:lnSpc>
              <a:buNone/>
            </a:pPr>
            <a:r>
              <a:rPr lang="en-US" sz="900" spc="-13" kern="0" dirty="0">
                <a:solidFill>
                  <a:srgbClr val="000614">
                    <a:alpha val="99000"/>
                  </a:srgbClr>
                </a:solidFill>
                <a:latin typeface="Manrope" pitchFamily="34" charset="0"/>
                <a:ea typeface="Manrope" pitchFamily="34" charset="-122"/>
                <a:cs typeface="Manrope" pitchFamily="34" charset="-120"/>
              </a:rPr>
              <a:t>leosimba9487@email.com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2025-11-21T16:35:01Z</dcterms:created>
  <dcterms:modified xsi:type="dcterms:W3CDTF">2025-11-21T16:35:01Z</dcterms:modified>
</cp:coreProperties>
</file>